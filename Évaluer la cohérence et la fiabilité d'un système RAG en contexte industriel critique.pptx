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0509E-C6B3-4B5F-9FA6-5028FE10BA34}" v="72" dt="2026-07-19T19:41:06.78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002" autoAdjust="0"/>
  </p:normalViewPr>
  <p:slideViewPr>
    <p:cSldViewPr snapToGrid="0">
      <p:cViewPr varScale="1">
        <p:scale>
          <a:sx n="81" d="100"/>
          <a:sy n="81" d="100"/>
        </p:scale>
        <p:origin x="171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19T19:40:12.071" v="453" actId="6549"/>
      <pc:docMkLst>
        <pc:docMk/>
      </pc:docMkLst>
      <pc:sldChg chg="modSp mod">
        <pc:chgData name="LELEU, Aurélien" userId="093eba4e-90a7-40ae-911e-f5260c33c50a" providerId="ADAL" clId="{FEF95D61-F379-41D7-B0A1-CC186124EBEF}" dt="2026-07-19T11:32:57.188" v="69" actId="20577"/>
        <pc:sldMkLst>
          <pc:docMk/>
          <pc:sldMk cId="0" sldId="256"/>
        </pc:sldMkLst>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19T11:36:33.911" v="104" actId="313"/>
        <pc:sldMkLst>
          <pc:docMk/>
          <pc:sldMk cId="0" sldId="258"/>
        </pc:sldMkLst>
        <pc:spChg chg="mod">
          <ac:chgData name="LELEU, Aurélien" userId="093eba4e-90a7-40ae-911e-f5260c33c50a" providerId="ADAL" clId="{FEF95D61-F379-41D7-B0A1-CC186124EBEF}" dt="2026-07-18T08:40:52.161" v="0" actId="1076"/>
          <ac:spMkLst>
            <pc:docMk/>
            <pc:sldMk cId="0" sldId="258"/>
            <ac:spMk id="566" creationId="{00000000-0000-0000-0000-000000000000}"/>
          </ac:spMkLst>
        </pc:spChg>
        <pc:spChg chg="mod">
          <ac:chgData name="LELEU, Aurélien" userId="093eba4e-90a7-40ae-911e-f5260c33c50a" providerId="ADAL" clId="{FEF95D61-F379-41D7-B0A1-CC186124EBEF}" dt="2026-07-19T11:36:33.911" v="104" actId="313"/>
          <ac:spMkLst>
            <pc:docMk/>
            <pc:sldMk cId="0" sldId="258"/>
            <ac:spMk id="568" creationId="{00000000-0000-0000-0000-000000000000}"/>
          </ac:spMkLst>
        </pc:spChg>
      </pc:sldChg>
      <pc:sldChg chg="addSp modSp mod modAnim">
        <pc:chgData name="LELEU, Aurélien" userId="093eba4e-90a7-40ae-911e-f5260c33c50a" providerId="ADAL" clId="{FEF95D61-F379-41D7-B0A1-CC186124EBEF}" dt="2026-07-19T18:45:55.740" v="299"/>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ldChg>
      <pc:sldChg chg="addSp delSp modSp mod">
        <pc:chgData name="LELEU, Aurélien" userId="093eba4e-90a7-40ae-911e-f5260c33c50a" providerId="ADAL" clId="{FEF95D61-F379-41D7-B0A1-CC186124EBEF}" dt="2026-07-19T18:41:54.739" v="286" actId="20577"/>
        <pc:sldMkLst>
          <pc:docMk/>
          <pc:sldMk cId="0" sldId="260"/>
        </pc:sldMkLst>
        <pc:spChg chg="add mod">
          <ac:chgData name="LELEU, Aurélien" userId="093eba4e-90a7-40ae-911e-f5260c33c50a" providerId="ADAL" clId="{FEF95D61-F379-41D7-B0A1-CC186124EBEF}" dt="2026-07-19T15:22:35.461" v="133" actId="20577"/>
          <ac:spMkLst>
            <pc:docMk/>
            <pc:sldMk cId="0" sldId="260"/>
            <ac:spMk id="4" creationId="{F0526974-4191-EF40-1BA6-66854F705DE3}"/>
          </ac:spMkLst>
        </pc:spChg>
        <pc:spChg chg="add mod">
          <ac:chgData name="LELEU, Aurélien" userId="093eba4e-90a7-40ae-911e-f5260c33c50a" providerId="ADAL" clId="{FEF95D61-F379-41D7-B0A1-CC186124EBEF}" dt="2026-07-19T15:22:51.404" v="147" actId="1076"/>
          <ac:spMkLst>
            <pc:docMk/>
            <pc:sldMk cId="0" sldId="260"/>
            <ac:spMk id="5" creationId="{EA92A5CA-C26D-67DD-D001-54AF4830D79A}"/>
          </ac:spMkLst>
        </pc:spChg>
        <pc:spChg chg="add mod">
          <ac:chgData name="LELEU, Aurélien" userId="093eba4e-90a7-40ae-911e-f5260c33c50a" providerId="ADAL" clId="{FEF95D61-F379-41D7-B0A1-CC186124EBEF}" dt="2026-07-19T15:23:49.501" v="173" actId="1076"/>
          <ac:spMkLst>
            <pc:docMk/>
            <pc:sldMk cId="0" sldId="260"/>
            <ac:spMk id="7" creationId="{53BFE7E8-401A-2C76-5786-ECDB063A28A2}"/>
          </ac:spMkLst>
        </pc:spChg>
        <pc:spChg chg="add mod">
          <ac:chgData name="LELEU, Aurélien" userId="093eba4e-90a7-40ae-911e-f5260c33c50a" providerId="ADAL" clId="{FEF95D61-F379-41D7-B0A1-CC186124EBEF}" dt="2026-07-19T15:23:57.272" v="182" actId="20577"/>
          <ac:spMkLst>
            <pc:docMk/>
            <pc:sldMk cId="0" sldId="260"/>
            <ac:spMk id="8" creationId="{A9A4C5A4-557C-D938-BD2B-344A6B935B0A}"/>
          </ac:spMkLst>
        </pc:spChg>
        <pc:graphicFrameChg chg="add mod modGraphic">
          <ac:chgData name="LELEU, Aurélien" userId="093eba4e-90a7-40ae-911e-f5260c33c50a" providerId="ADAL" clId="{FEF95D61-F379-41D7-B0A1-CC186124EBEF}" dt="2026-07-19T18:39:00.128" v="205" actId="20577"/>
          <ac:graphicFrameMkLst>
            <pc:docMk/>
            <pc:sldMk cId="0" sldId="260"/>
            <ac:graphicFrameMk id="2" creationId="{06E639B4-ED3C-4BE6-2AC0-EE1A61428124}"/>
          </ac:graphicFrameMkLst>
        </pc:graphicFrameChg>
        <pc:graphicFrameChg chg="add mod modGraphic">
          <ac:chgData name="LELEU, Aurélien" userId="093eba4e-90a7-40ae-911e-f5260c33c50a" providerId="ADAL" clId="{FEF95D61-F379-41D7-B0A1-CC186124EBEF}" dt="2026-07-19T18:41:54.739" v="286" actId="20577"/>
          <ac:graphicFrameMkLst>
            <pc:docMk/>
            <pc:sldMk cId="0" sldId="260"/>
            <ac:graphicFrameMk id="6" creationId="{78FDE50F-97BE-0F14-85D0-F9149E39820A}"/>
          </ac:graphicFrameMkLst>
        </pc:graphicFrameChg>
        <pc:picChg chg="del">
          <ac:chgData name="LELEU, Aurélien" userId="093eba4e-90a7-40ae-911e-f5260c33c50a" providerId="ADAL" clId="{FEF95D61-F379-41D7-B0A1-CC186124EBEF}" dt="2026-07-19T15:21:07.472" v="114" actId="478"/>
          <ac:picMkLst>
            <pc:docMk/>
            <pc:sldMk cId="0" sldId="260"/>
            <ac:picMk id="610" creationId="{00000000-0000-0000-0000-000000000000}"/>
          </ac:picMkLst>
        </pc:picChg>
      </pc:sldChg>
      <pc:sldChg chg="addSp delSp modSp mod">
        <pc:chgData name="LELEU, Aurélien" userId="093eba4e-90a7-40ae-911e-f5260c33c50a" providerId="ADAL" clId="{FEF95D61-F379-41D7-B0A1-CC186124EBEF}" dt="2026-07-19T19:39:41.229" v="451" actId="20577"/>
        <pc:sldMkLst>
          <pc:docMk/>
          <pc:sldMk cId="0" sldId="261"/>
        </pc:sldMkLst>
        <pc:spChg chg="mod">
          <ac:chgData name="LELEU, Aurélien" userId="093eba4e-90a7-40ae-911e-f5260c33c50a" providerId="ADAL" clId="{FEF95D61-F379-41D7-B0A1-CC186124EBEF}" dt="2026-07-19T19:39:41.229" v="451" actId="20577"/>
          <ac:spMkLst>
            <pc:docMk/>
            <pc:sldMk cId="0" sldId="261"/>
            <ac:spMk id="621" creationId="{00000000-0000-0000-0000-000000000000}"/>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spChg chg="del">
          <ac:chgData name="LELEU, Aurélien" userId="093eba4e-90a7-40ae-911e-f5260c33c50a" providerId="ADAL" clId="{FEF95D61-F379-41D7-B0A1-CC186124EBEF}" dt="2026-07-18T09:10:17.802" v="12" actId="478"/>
          <ac:spMkLst>
            <pc:docMk/>
            <pc:sldMk cId="0" sldId="261"/>
            <ac:spMk id="636" creationId="{00000000-0000-0000-0000-000000000000}"/>
          </ac:spMkLst>
        </pc:spChg>
        <pc:spChg chg="del">
          <ac:chgData name="LELEU, Aurélien" userId="093eba4e-90a7-40ae-911e-f5260c33c50a" providerId="ADAL" clId="{FEF95D61-F379-41D7-B0A1-CC186124EBEF}" dt="2026-07-18T09:10:12.670" v="9" actId="478"/>
          <ac:spMkLst>
            <pc:docMk/>
            <pc:sldMk cId="0" sldId="261"/>
            <ac:spMk id="637"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del">
          <ac:chgData name="LELEU, Aurélien" userId="093eba4e-90a7-40ae-911e-f5260c33c50a" providerId="ADAL" clId="{FEF95D61-F379-41D7-B0A1-CC186124EBEF}" dt="2026-07-18T09:19:38.032" v="18" actId="478"/>
          <ac:spMkLst>
            <pc:docMk/>
            <pc:sldMk cId="0" sldId="262"/>
            <ac:spMk id="647" creationId="{00000000-0000-0000-0000-000000000000}"/>
          </ac:spMkLst>
        </pc:spChg>
        <pc:spChg chg="del">
          <ac:chgData name="LELEU, Aurélien" userId="093eba4e-90a7-40ae-911e-f5260c33c50a" providerId="ADAL" clId="{FEF95D61-F379-41D7-B0A1-CC186124EBEF}" dt="2026-07-18T09:19:41.734" v="19" actId="478"/>
          <ac:spMkLst>
            <pc:docMk/>
            <pc:sldMk cId="0" sldId="262"/>
            <ac:spMk id="648"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spChg chg="del">
          <ac:chgData name="LELEU, Aurélien" userId="093eba4e-90a7-40ae-911e-f5260c33c50a" providerId="ADAL" clId="{FEF95D61-F379-41D7-B0A1-CC186124EBEF}" dt="2026-07-19T15:14:21.373" v="113" actId="478"/>
          <ac:spMkLst>
            <pc:docMk/>
            <pc:sldMk cId="0" sldId="263"/>
            <ac:spMk id="665" creationId="{00000000-0000-0000-0000-000000000000}"/>
          </ac:spMkLst>
        </pc:spChg>
        <pc:spChg chg="del">
          <ac:chgData name="LELEU, Aurélien" userId="093eba4e-90a7-40ae-911e-f5260c33c50a" providerId="ADAL" clId="{FEF95D61-F379-41D7-B0A1-CC186124EBEF}" dt="2026-07-19T15:14:21.373" v="113" actId="478"/>
          <ac:spMkLst>
            <pc:docMk/>
            <pc:sldMk cId="0" sldId="263"/>
            <ac:spMk id="667" creationId="{00000000-0000-0000-0000-000000000000}"/>
          </ac:spMkLst>
        </pc:spChg>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picChg chg="del">
          <ac:chgData name="LELEU, Aurélien" userId="093eba4e-90a7-40ae-911e-f5260c33c50a" providerId="ADAL" clId="{FEF95D61-F379-41D7-B0A1-CC186124EBEF}" dt="2026-07-18T09:29:26.474" v="37" actId="478"/>
          <ac:picMkLst>
            <pc:docMk/>
            <pc:sldMk cId="0" sldId="263"/>
            <ac:picMk id="662" creationId="{00000000-0000-0000-0000-000000000000}"/>
          </ac:picMkLst>
        </pc:picChg>
        <pc:picChg chg="del">
          <ac:chgData name="LELEU, Aurélien" userId="093eba4e-90a7-40ae-911e-f5260c33c50a" providerId="ADAL" clId="{FEF95D61-F379-41D7-B0A1-CC186124EBEF}" dt="2026-07-19T15:14:21.373" v="113" actId="478"/>
          <ac:picMkLst>
            <pc:docMk/>
            <pc:sldMk cId="0" sldId="263"/>
            <ac:picMk id="666" creationId="{00000000-0000-0000-0000-000000000000}"/>
          </ac:picMkLst>
        </pc:picChg>
      </pc:sldChg>
      <pc:sldChg chg="addSp delSp modSp mod">
        <pc:chgData name="LELEU, Aurélien" userId="093eba4e-90a7-40ae-911e-f5260c33c50a" providerId="ADAL" clId="{FEF95D61-F379-41D7-B0A1-CC186124EBEF}" dt="2026-07-19T15:14:11.574" v="112" actId="14100"/>
        <pc:sldMkLst>
          <pc:docMk/>
          <pc:sldMk cId="0" sldId="264"/>
        </pc:sldMkLst>
        <pc:spChg chg="del">
          <ac:chgData name="LELEU, Aurélien" userId="093eba4e-90a7-40ae-911e-f5260c33c50a" providerId="ADAL" clId="{FEF95D61-F379-41D7-B0A1-CC186124EBEF}" dt="2026-07-19T15:14:01.987" v="110" actId="478"/>
          <ac:spMkLst>
            <pc:docMk/>
            <pc:sldMk cId="0" sldId="264"/>
            <ac:spMk id="679" creationId="{00000000-0000-0000-0000-000000000000}"/>
          </ac:spMkLst>
        </pc:spChg>
        <pc:spChg chg="del">
          <ac:chgData name="LELEU, Aurélien" userId="093eba4e-90a7-40ae-911e-f5260c33c50a" providerId="ADAL" clId="{FEF95D61-F379-41D7-B0A1-CC186124EBEF}" dt="2026-07-19T15:14:01.987" v="110" actId="478"/>
          <ac:spMkLst>
            <pc:docMk/>
            <pc:sldMk cId="0" sldId="264"/>
            <ac:spMk id="681"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picChg chg="del">
          <ac:chgData name="LELEU, Aurélien" userId="093eba4e-90a7-40ae-911e-f5260c33c50a" providerId="ADAL" clId="{FEF95D61-F379-41D7-B0A1-CC186124EBEF}" dt="2026-07-18T09:31:20.931" v="39" actId="478"/>
          <ac:picMkLst>
            <pc:docMk/>
            <pc:sldMk cId="0" sldId="264"/>
            <ac:picMk id="676" creationId="{00000000-0000-0000-0000-000000000000}"/>
          </ac:picMkLst>
        </pc:picChg>
        <pc:picChg chg="del">
          <ac:chgData name="LELEU, Aurélien" userId="093eba4e-90a7-40ae-911e-f5260c33c50a" providerId="ADAL" clId="{FEF95D61-F379-41D7-B0A1-CC186124EBEF}" dt="2026-07-19T15:14:01.987" v="110" actId="478"/>
          <ac:picMkLst>
            <pc:docMk/>
            <pc:sldMk cId="0" sldId="264"/>
            <ac:picMk id="680" creationId="{00000000-0000-0000-0000-000000000000}"/>
          </ac:picMkLst>
        </pc:picChg>
      </pc:sldChg>
      <pc:sldChg chg="delSp mod modNotesTx">
        <pc:chgData name="LELEU, Aurélien" userId="093eba4e-90a7-40ae-911e-f5260c33c50a" providerId="ADAL" clId="{FEF95D61-F379-41D7-B0A1-CC186124EBEF}" dt="2026-07-19T19:40:12.071" v="453" actId="6549"/>
        <pc:sldMkLst>
          <pc:docMk/>
          <pc:sldMk cId="0" sldId="265"/>
        </pc:sldMkLst>
        <pc:spChg chg="del">
          <ac:chgData name="LELEU, Aurélien" userId="093eba4e-90a7-40ae-911e-f5260c33c50a" providerId="ADAL" clId="{FEF95D61-F379-41D7-B0A1-CC186124EBEF}" dt="2026-07-19T15:13:56.674" v="109" actId="478"/>
          <ac:spMkLst>
            <pc:docMk/>
            <pc:sldMk cId="0" sldId="265"/>
            <ac:spMk id="700"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2"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4" creationId="{00000000-0000-0000-0000-000000000000}"/>
          </ac:spMkLst>
        </pc:spChg>
        <pc:picChg chg="del">
          <ac:chgData name="LELEU, Aurélien" userId="093eba4e-90a7-40ae-911e-f5260c33c50a" providerId="ADAL" clId="{FEF95D61-F379-41D7-B0A1-CC186124EBEF}" dt="2026-07-19T15:13:51.206" v="108" actId="478"/>
          <ac:picMkLst>
            <pc:docMk/>
            <pc:sldMk cId="0" sldId="265"/>
            <ac:picMk id="703" creationId="{00000000-0000-0000-0000-000000000000}"/>
          </ac:picMkLst>
        </pc:picChg>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spChg chg="del mod">
          <ac:chgData name="LELEU, Aurélien" userId="093eba4e-90a7-40ae-911e-f5260c33c50a" providerId="ADAL" clId="{FEF95D61-F379-41D7-B0A1-CC186124EBEF}" dt="2026-07-19T15:13:41.496" v="107" actId="478"/>
          <ac:spMkLst>
            <pc:docMk/>
            <pc:sldMk cId="0" sldId="266"/>
            <ac:spMk id="715" creationId="{00000000-0000-0000-0000-000000000000}"/>
          </ac:spMkLst>
        </pc:spChg>
        <pc:spChg chg="del">
          <ac:chgData name="LELEU, Aurélien" userId="093eba4e-90a7-40ae-911e-f5260c33c50a" providerId="ADAL" clId="{FEF95D61-F379-41D7-B0A1-CC186124EBEF}" dt="2026-07-19T15:13:31.117" v="105" actId="478"/>
          <ac:spMkLst>
            <pc:docMk/>
            <pc:sldMk cId="0" sldId="266"/>
            <ac:spMk id="716" creationId="{00000000-0000-0000-0000-000000000000}"/>
          </ac:spMkLst>
        </pc:spChg>
        <pc:spChg chg="mod">
          <ac:chgData name="LELEU, Aurélien" userId="093eba4e-90a7-40ae-911e-f5260c33c50a" providerId="ADAL" clId="{FEF95D61-F379-41D7-B0A1-CC186124EBEF}" dt="2026-07-19T19:11:47.569" v="335" actId="14100"/>
          <ac:spMkLst>
            <pc:docMk/>
            <pc:sldMk cId="0" sldId="266"/>
            <ac:spMk id="71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2" creationId="{00000000-0000-0000-0000-000000000000}"/>
          </ac:spMkLst>
        </pc:spChg>
        <pc:spChg chg="mod">
          <ac:chgData name="LELEU, Aurélien" userId="093eba4e-90a7-40ae-911e-f5260c33c50a" providerId="ADAL" clId="{FEF95D61-F379-41D7-B0A1-CC186124EBEF}" dt="2026-07-19T19:12:07.812" v="337" actId="1076"/>
          <ac:spMkLst>
            <pc:docMk/>
            <pc:sldMk cId="0" sldId="266"/>
            <ac:spMk id="724"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2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1"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5"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6"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0"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3"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5"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6" creationId="{00000000-0000-0000-0000-000000000000}"/>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picChg chg="del">
          <ac:chgData name="LELEU, Aurélien" userId="093eba4e-90a7-40ae-911e-f5260c33c50a" providerId="ADAL" clId="{FEF95D61-F379-41D7-B0A1-CC186124EBEF}" dt="2026-07-18T09:32:50.961" v="45" actId="478"/>
          <ac:picMkLst>
            <pc:docMk/>
            <pc:sldMk cId="0" sldId="266"/>
            <ac:picMk id="714" creationId="{00000000-0000-0000-0000-000000000000}"/>
          </ac:picMkLst>
        </pc:pic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3E65CCD-84AB-462C-A4FC-80D9222920A7}"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fr-FR"/>
        </a:p>
      </dgm:t>
    </dgm:pt>
    <dgm:pt modelId="{20BB13F5-9734-48F2-BDAA-324A494A4FDF}">
      <dgm:prSet phldrT="[Texte]" phldr="0"/>
      <dgm:spPr/>
      <dgm:t>
        <a:bodyPr/>
        <a:lstStyle/>
        <a:p>
          <a:r>
            <a:rPr lang="fr-FR" dirty="0"/>
            <a:t>Chunking</a:t>
          </a:r>
        </a:p>
      </dgm:t>
    </dgm:pt>
    <dgm:pt modelId="{31780956-B423-4D0A-8214-34E3D90B8A73}" type="parTrans" cxnId="{6CAD2A80-E9AA-446F-BBFE-A1BF96FDBABD}">
      <dgm:prSet/>
      <dgm:spPr/>
      <dgm:t>
        <a:bodyPr/>
        <a:lstStyle/>
        <a:p>
          <a:endParaRPr lang="fr-FR"/>
        </a:p>
      </dgm:t>
    </dgm:pt>
    <dgm:pt modelId="{D50278AB-17CD-446D-9F55-B97CA25474CF}" type="sibTrans" cxnId="{6CAD2A80-E9AA-446F-BBFE-A1BF96FDBABD}">
      <dgm:prSet/>
      <dgm:spPr/>
      <dgm:t>
        <a:bodyPr/>
        <a:lstStyle/>
        <a:p>
          <a:endParaRPr lang="fr-FR"/>
        </a:p>
      </dgm:t>
    </dgm:pt>
    <dgm:pt modelId="{853646DE-A085-4211-83BA-E4785BAB1077}">
      <dgm:prSet phldrT="[Texte]" phldr="0"/>
      <dgm:spPr/>
      <dgm:t>
        <a:bodyPr/>
        <a:lstStyle/>
        <a:p>
          <a:r>
            <a:rPr lang="fr-FR" dirty="0"/>
            <a:t>Vectorisation</a:t>
          </a:r>
        </a:p>
      </dgm:t>
    </dgm:pt>
    <dgm:pt modelId="{F7CCDF80-5F83-49DB-9ABA-727DD4D5A768}" type="parTrans" cxnId="{666C54A6-7F4F-4416-BBA1-12EFC434D786}">
      <dgm:prSet/>
      <dgm:spPr/>
      <dgm:t>
        <a:bodyPr/>
        <a:lstStyle/>
        <a:p>
          <a:endParaRPr lang="fr-FR"/>
        </a:p>
      </dgm:t>
    </dgm:pt>
    <dgm:pt modelId="{EC6C7F6B-45B2-4DDF-BC15-083DEA76CA97}" type="sibTrans" cxnId="{666C54A6-7F4F-4416-BBA1-12EFC434D786}">
      <dgm:prSet/>
      <dgm:spPr/>
      <dgm:t>
        <a:bodyPr/>
        <a:lstStyle/>
        <a:p>
          <a:endParaRPr lang="fr-FR"/>
        </a:p>
      </dgm:t>
    </dgm:pt>
    <dgm:pt modelId="{D3853D79-4ACB-41DD-A68C-7C692E01A690}" type="pres">
      <dgm:prSet presAssocID="{E3E65CCD-84AB-462C-A4FC-80D9222920A7}" presName="Name0" presStyleCnt="0">
        <dgm:presLayoutVars>
          <dgm:dir/>
          <dgm:animLvl val="lvl"/>
          <dgm:resizeHandles val="exact"/>
        </dgm:presLayoutVars>
      </dgm:prSet>
      <dgm:spPr/>
    </dgm:pt>
    <dgm:pt modelId="{3B131679-98CE-4E88-A5E7-C8DAEF4873E8}" type="pres">
      <dgm:prSet presAssocID="{20BB13F5-9734-48F2-BDAA-324A494A4FDF}" presName="parTxOnly" presStyleLbl="node1" presStyleIdx="0" presStyleCnt="2">
        <dgm:presLayoutVars>
          <dgm:chMax val="0"/>
          <dgm:chPref val="0"/>
          <dgm:bulletEnabled val="1"/>
        </dgm:presLayoutVars>
      </dgm:prSet>
      <dgm:spPr/>
    </dgm:pt>
    <dgm:pt modelId="{B7F2C88D-29F0-4D3E-B517-808FB68EFE77}" type="pres">
      <dgm:prSet presAssocID="{D50278AB-17CD-446D-9F55-B97CA25474CF}" presName="parTxOnlySpace" presStyleCnt="0"/>
      <dgm:spPr/>
    </dgm:pt>
    <dgm:pt modelId="{A7FCEB46-14F5-41A5-A0A4-2625E00EACA1}" type="pres">
      <dgm:prSet presAssocID="{853646DE-A085-4211-83BA-E4785BAB1077}" presName="parTxOnly" presStyleLbl="node1" presStyleIdx="1" presStyleCnt="2">
        <dgm:presLayoutVars>
          <dgm:chMax val="0"/>
          <dgm:chPref val="0"/>
          <dgm:bulletEnabled val="1"/>
        </dgm:presLayoutVars>
      </dgm:prSet>
      <dgm:spPr/>
    </dgm:pt>
  </dgm:ptLst>
  <dgm:cxnLst>
    <dgm:cxn modelId="{02C36B6B-EE7B-4B8C-BEEC-BF49F5756476}" type="presOf" srcId="{20BB13F5-9734-48F2-BDAA-324A494A4FDF}" destId="{3B131679-98CE-4E88-A5E7-C8DAEF4873E8}" srcOrd="0" destOrd="0" presId="urn:microsoft.com/office/officeart/2005/8/layout/chevron1"/>
    <dgm:cxn modelId="{6CAD2A80-E9AA-446F-BBFE-A1BF96FDBABD}" srcId="{E3E65CCD-84AB-462C-A4FC-80D9222920A7}" destId="{20BB13F5-9734-48F2-BDAA-324A494A4FDF}" srcOrd="0" destOrd="0" parTransId="{31780956-B423-4D0A-8214-34E3D90B8A73}" sibTransId="{D50278AB-17CD-446D-9F55-B97CA25474CF}"/>
    <dgm:cxn modelId="{C5D64983-E55E-4803-918A-D49A941645CF}" type="presOf" srcId="{E3E65CCD-84AB-462C-A4FC-80D9222920A7}" destId="{D3853D79-4ACB-41DD-A68C-7C692E01A690}" srcOrd="0" destOrd="0" presId="urn:microsoft.com/office/officeart/2005/8/layout/chevron1"/>
    <dgm:cxn modelId="{A138EEA4-E5C8-4161-8E1B-027D2CE68778}" type="presOf" srcId="{853646DE-A085-4211-83BA-E4785BAB1077}" destId="{A7FCEB46-14F5-41A5-A0A4-2625E00EACA1}" srcOrd="0" destOrd="0" presId="urn:microsoft.com/office/officeart/2005/8/layout/chevron1"/>
    <dgm:cxn modelId="{666C54A6-7F4F-4416-BBA1-12EFC434D786}" srcId="{E3E65CCD-84AB-462C-A4FC-80D9222920A7}" destId="{853646DE-A085-4211-83BA-E4785BAB1077}" srcOrd="1" destOrd="0" parTransId="{F7CCDF80-5F83-49DB-9ABA-727DD4D5A768}" sibTransId="{EC6C7F6B-45B2-4DDF-BC15-083DEA76CA97}"/>
    <dgm:cxn modelId="{B6A3CB58-47FD-4D4C-B8C4-E3F2D4D7D5C5}" type="presParOf" srcId="{D3853D79-4ACB-41DD-A68C-7C692E01A690}" destId="{3B131679-98CE-4E88-A5E7-C8DAEF4873E8}" srcOrd="0" destOrd="0" presId="urn:microsoft.com/office/officeart/2005/8/layout/chevron1"/>
    <dgm:cxn modelId="{E03E1654-E07A-4878-BF2C-A480E5DB121D}" type="presParOf" srcId="{D3853D79-4ACB-41DD-A68C-7C692E01A690}" destId="{B7F2C88D-29F0-4D3E-B517-808FB68EFE77}" srcOrd="1" destOrd="0" presId="urn:microsoft.com/office/officeart/2005/8/layout/chevron1"/>
    <dgm:cxn modelId="{9E9A5E84-A75E-4B2E-A0BC-5815BA8DB754}" type="presParOf" srcId="{D3853D79-4ACB-41DD-A68C-7C692E01A690}" destId="{A7FCEB46-14F5-41A5-A0A4-2625E00EACA1}" srcOrd="2"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E65CCD-84AB-462C-A4FC-80D9222920A7}"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fr-FR"/>
        </a:p>
      </dgm:t>
    </dgm:pt>
    <dgm:pt modelId="{20BB13F5-9734-48F2-BDAA-324A494A4FDF}">
      <dgm:prSet phldrT="[Texte]" phldr="0"/>
      <dgm:spPr/>
      <dgm:t>
        <a:bodyPr/>
        <a:lstStyle/>
        <a:p>
          <a:r>
            <a:rPr lang="fr-FR" dirty="0"/>
            <a:t>Vectorisation</a:t>
          </a:r>
        </a:p>
      </dgm:t>
    </dgm:pt>
    <dgm:pt modelId="{31780956-B423-4D0A-8214-34E3D90B8A73}" type="parTrans" cxnId="{6CAD2A80-E9AA-446F-BBFE-A1BF96FDBABD}">
      <dgm:prSet/>
      <dgm:spPr/>
      <dgm:t>
        <a:bodyPr/>
        <a:lstStyle/>
        <a:p>
          <a:endParaRPr lang="fr-FR"/>
        </a:p>
      </dgm:t>
    </dgm:pt>
    <dgm:pt modelId="{D50278AB-17CD-446D-9F55-B97CA25474CF}" type="sibTrans" cxnId="{6CAD2A80-E9AA-446F-BBFE-A1BF96FDBABD}">
      <dgm:prSet/>
      <dgm:spPr/>
      <dgm:t>
        <a:bodyPr/>
        <a:lstStyle/>
        <a:p>
          <a:endParaRPr lang="fr-FR"/>
        </a:p>
      </dgm:t>
    </dgm:pt>
    <dgm:pt modelId="{853646DE-A085-4211-83BA-E4785BAB1077}">
      <dgm:prSet phldrT="[Texte]" phldr="0"/>
      <dgm:spPr/>
      <dgm:t>
        <a:bodyPr/>
        <a:lstStyle/>
        <a:p>
          <a:r>
            <a:rPr lang="fr-FR" dirty="0" err="1"/>
            <a:t>Récuperation</a:t>
          </a:r>
          <a:r>
            <a:rPr lang="fr-FR" dirty="0"/>
            <a:t> </a:t>
          </a:r>
          <a:r>
            <a:rPr lang="fr-FR" dirty="0" err="1"/>
            <a:t>Vectorstore</a:t>
          </a:r>
          <a:endParaRPr lang="fr-FR" dirty="0"/>
        </a:p>
      </dgm:t>
    </dgm:pt>
    <dgm:pt modelId="{F7CCDF80-5F83-49DB-9ABA-727DD4D5A768}" type="parTrans" cxnId="{666C54A6-7F4F-4416-BBA1-12EFC434D786}">
      <dgm:prSet/>
      <dgm:spPr/>
      <dgm:t>
        <a:bodyPr/>
        <a:lstStyle/>
        <a:p>
          <a:endParaRPr lang="fr-FR"/>
        </a:p>
      </dgm:t>
    </dgm:pt>
    <dgm:pt modelId="{EC6C7F6B-45B2-4DDF-BC15-083DEA76CA97}" type="sibTrans" cxnId="{666C54A6-7F4F-4416-BBA1-12EFC434D786}">
      <dgm:prSet/>
      <dgm:spPr/>
      <dgm:t>
        <a:bodyPr/>
        <a:lstStyle/>
        <a:p>
          <a:endParaRPr lang="fr-FR"/>
        </a:p>
      </dgm:t>
    </dgm:pt>
    <dgm:pt modelId="{A0E00697-F58D-49E9-A1EF-87E9775757B1}">
      <dgm:prSet phldrT="[Texte]" phldr="0"/>
      <dgm:spPr/>
      <dgm:t>
        <a:bodyPr/>
        <a:lstStyle/>
        <a:p>
          <a:r>
            <a:rPr lang="fr-FR" dirty="0"/>
            <a:t>Prompt template</a:t>
          </a:r>
        </a:p>
      </dgm:t>
    </dgm:pt>
    <dgm:pt modelId="{4ED59F80-5C10-4E7C-B6DE-59962EFFBFB2}" type="parTrans" cxnId="{7FB1A503-56D8-4410-ACD5-2FDB33763194}">
      <dgm:prSet/>
      <dgm:spPr/>
      <dgm:t>
        <a:bodyPr/>
        <a:lstStyle/>
        <a:p>
          <a:endParaRPr lang="fr-FR"/>
        </a:p>
      </dgm:t>
    </dgm:pt>
    <dgm:pt modelId="{C274CF9D-6679-4FDA-8737-1B0F5A477F88}" type="sibTrans" cxnId="{7FB1A503-56D8-4410-ACD5-2FDB33763194}">
      <dgm:prSet/>
      <dgm:spPr/>
      <dgm:t>
        <a:bodyPr/>
        <a:lstStyle/>
        <a:p>
          <a:endParaRPr lang="fr-FR"/>
        </a:p>
      </dgm:t>
    </dgm:pt>
    <dgm:pt modelId="{CBE860EB-FF04-44A4-BBD2-114A74EE219C}">
      <dgm:prSet phldrT="[Texte]" phldr="0"/>
      <dgm:spPr/>
      <dgm:t>
        <a:bodyPr/>
        <a:lstStyle/>
        <a:p>
          <a:r>
            <a:rPr lang="fr-FR" dirty="0"/>
            <a:t>LLM</a:t>
          </a:r>
        </a:p>
      </dgm:t>
    </dgm:pt>
    <dgm:pt modelId="{AFF158CA-059D-4DE7-AF53-D3C684320DF9}" type="parTrans" cxnId="{CC1E9134-25AC-4A00-AA44-EC98CA1D270C}">
      <dgm:prSet/>
      <dgm:spPr/>
      <dgm:t>
        <a:bodyPr/>
        <a:lstStyle/>
        <a:p>
          <a:endParaRPr lang="fr-FR"/>
        </a:p>
      </dgm:t>
    </dgm:pt>
    <dgm:pt modelId="{9AC4A882-10EA-4CE1-8DBD-EE6ECAE87A80}" type="sibTrans" cxnId="{CC1E9134-25AC-4A00-AA44-EC98CA1D270C}">
      <dgm:prSet/>
      <dgm:spPr/>
      <dgm:t>
        <a:bodyPr/>
        <a:lstStyle/>
        <a:p>
          <a:endParaRPr lang="fr-FR"/>
        </a:p>
      </dgm:t>
    </dgm:pt>
    <dgm:pt modelId="{D3853D79-4ACB-41DD-A68C-7C692E01A690}" type="pres">
      <dgm:prSet presAssocID="{E3E65CCD-84AB-462C-A4FC-80D9222920A7}" presName="Name0" presStyleCnt="0">
        <dgm:presLayoutVars>
          <dgm:dir/>
          <dgm:animLvl val="lvl"/>
          <dgm:resizeHandles val="exact"/>
        </dgm:presLayoutVars>
      </dgm:prSet>
      <dgm:spPr/>
    </dgm:pt>
    <dgm:pt modelId="{3B131679-98CE-4E88-A5E7-C8DAEF4873E8}" type="pres">
      <dgm:prSet presAssocID="{20BB13F5-9734-48F2-BDAA-324A494A4FDF}" presName="parTxOnly" presStyleLbl="node1" presStyleIdx="0" presStyleCnt="4">
        <dgm:presLayoutVars>
          <dgm:chMax val="0"/>
          <dgm:chPref val="0"/>
          <dgm:bulletEnabled val="1"/>
        </dgm:presLayoutVars>
      </dgm:prSet>
      <dgm:spPr/>
    </dgm:pt>
    <dgm:pt modelId="{B7F2C88D-29F0-4D3E-B517-808FB68EFE77}" type="pres">
      <dgm:prSet presAssocID="{D50278AB-17CD-446D-9F55-B97CA25474CF}" presName="parTxOnlySpace" presStyleCnt="0"/>
      <dgm:spPr/>
    </dgm:pt>
    <dgm:pt modelId="{A7FCEB46-14F5-41A5-A0A4-2625E00EACA1}" type="pres">
      <dgm:prSet presAssocID="{853646DE-A085-4211-83BA-E4785BAB1077}" presName="parTxOnly" presStyleLbl="node1" presStyleIdx="1" presStyleCnt="4">
        <dgm:presLayoutVars>
          <dgm:chMax val="0"/>
          <dgm:chPref val="0"/>
          <dgm:bulletEnabled val="1"/>
        </dgm:presLayoutVars>
      </dgm:prSet>
      <dgm:spPr/>
    </dgm:pt>
    <dgm:pt modelId="{9C3850FB-B548-4656-BE81-7BAF99B92540}" type="pres">
      <dgm:prSet presAssocID="{EC6C7F6B-45B2-4DDF-BC15-083DEA76CA97}" presName="parTxOnlySpace" presStyleCnt="0"/>
      <dgm:spPr/>
    </dgm:pt>
    <dgm:pt modelId="{E1B4DCD0-26D4-4CFF-AFA3-0B3737A8E1BD}" type="pres">
      <dgm:prSet presAssocID="{A0E00697-F58D-49E9-A1EF-87E9775757B1}" presName="parTxOnly" presStyleLbl="node1" presStyleIdx="2" presStyleCnt="4">
        <dgm:presLayoutVars>
          <dgm:chMax val="0"/>
          <dgm:chPref val="0"/>
          <dgm:bulletEnabled val="1"/>
        </dgm:presLayoutVars>
      </dgm:prSet>
      <dgm:spPr/>
    </dgm:pt>
    <dgm:pt modelId="{7597A096-36D4-44B8-8CB0-8B4CA8878B31}" type="pres">
      <dgm:prSet presAssocID="{C274CF9D-6679-4FDA-8737-1B0F5A477F88}" presName="parTxOnlySpace" presStyleCnt="0"/>
      <dgm:spPr/>
    </dgm:pt>
    <dgm:pt modelId="{E5531B45-B93B-4D1A-B6C5-AFF9C2AA3774}" type="pres">
      <dgm:prSet presAssocID="{CBE860EB-FF04-44A4-BBD2-114A74EE219C}" presName="parTxOnly" presStyleLbl="node1" presStyleIdx="3" presStyleCnt="4">
        <dgm:presLayoutVars>
          <dgm:chMax val="0"/>
          <dgm:chPref val="0"/>
          <dgm:bulletEnabled val="1"/>
        </dgm:presLayoutVars>
      </dgm:prSet>
      <dgm:spPr/>
    </dgm:pt>
  </dgm:ptLst>
  <dgm:cxnLst>
    <dgm:cxn modelId="{7FB1A503-56D8-4410-ACD5-2FDB33763194}" srcId="{E3E65CCD-84AB-462C-A4FC-80D9222920A7}" destId="{A0E00697-F58D-49E9-A1EF-87E9775757B1}" srcOrd="2" destOrd="0" parTransId="{4ED59F80-5C10-4E7C-B6DE-59962EFFBFB2}" sibTransId="{C274CF9D-6679-4FDA-8737-1B0F5A477F88}"/>
    <dgm:cxn modelId="{CC1E9134-25AC-4A00-AA44-EC98CA1D270C}" srcId="{E3E65CCD-84AB-462C-A4FC-80D9222920A7}" destId="{CBE860EB-FF04-44A4-BBD2-114A74EE219C}" srcOrd="3" destOrd="0" parTransId="{AFF158CA-059D-4DE7-AF53-D3C684320DF9}" sibTransId="{9AC4A882-10EA-4CE1-8DBD-EE6ECAE87A80}"/>
    <dgm:cxn modelId="{A16E1C51-6F4B-40AF-AF8B-C97A0271B370}" type="presOf" srcId="{CBE860EB-FF04-44A4-BBD2-114A74EE219C}" destId="{E5531B45-B93B-4D1A-B6C5-AFF9C2AA3774}" srcOrd="0" destOrd="0" presId="urn:microsoft.com/office/officeart/2005/8/layout/chevron1"/>
    <dgm:cxn modelId="{C2165D57-1778-4460-B600-A9D5B4F1D58A}" type="presOf" srcId="{A0E00697-F58D-49E9-A1EF-87E9775757B1}" destId="{E1B4DCD0-26D4-4CFF-AFA3-0B3737A8E1BD}" srcOrd="0" destOrd="0" presId="urn:microsoft.com/office/officeart/2005/8/layout/chevron1"/>
    <dgm:cxn modelId="{6CAD2A80-E9AA-446F-BBFE-A1BF96FDBABD}" srcId="{E3E65CCD-84AB-462C-A4FC-80D9222920A7}" destId="{20BB13F5-9734-48F2-BDAA-324A494A4FDF}" srcOrd="0" destOrd="0" parTransId="{31780956-B423-4D0A-8214-34E3D90B8A73}" sibTransId="{D50278AB-17CD-446D-9F55-B97CA25474CF}"/>
    <dgm:cxn modelId="{C5D64983-E55E-4803-918A-D49A941645CF}" type="presOf" srcId="{E3E65CCD-84AB-462C-A4FC-80D9222920A7}" destId="{D3853D79-4ACB-41DD-A68C-7C692E01A690}" srcOrd="0" destOrd="0" presId="urn:microsoft.com/office/officeart/2005/8/layout/chevron1"/>
    <dgm:cxn modelId="{666C54A6-7F4F-4416-BBA1-12EFC434D786}" srcId="{E3E65CCD-84AB-462C-A4FC-80D9222920A7}" destId="{853646DE-A085-4211-83BA-E4785BAB1077}" srcOrd="1" destOrd="0" parTransId="{F7CCDF80-5F83-49DB-9ABA-727DD4D5A768}" sibTransId="{EC6C7F6B-45B2-4DDF-BC15-083DEA76CA97}"/>
    <dgm:cxn modelId="{075B01C4-6E66-4645-8EB8-9D0F8A329530}" type="presOf" srcId="{20BB13F5-9734-48F2-BDAA-324A494A4FDF}" destId="{3B131679-98CE-4E88-A5E7-C8DAEF4873E8}" srcOrd="0" destOrd="0" presId="urn:microsoft.com/office/officeart/2005/8/layout/chevron1"/>
    <dgm:cxn modelId="{F39672DB-584C-41B7-BF4B-9EC3638A8058}" type="presOf" srcId="{853646DE-A085-4211-83BA-E4785BAB1077}" destId="{A7FCEB46-14F5-41A5-A0A4-2625E00EACA1}" srcOrd="0" destOrd="0" presId="urn:microsoft.com/office/officeart/2005/8/layout/chevron1"/>
    <dgm:cxn modelId="{FC63161D-A177-4385-8383-FA2FF6011567}" type="presParOf" srcId="{D3853D79-4ACB-41DD-A68C-7C692E01A690}" destId="{3B131679-98CE-4E88-A5E7-C8DAEF4873E8}" srcOrd="0" destOrd="0" presId="urn:microsoft.com/office/officeart/2005/8/layout/chevron1"/>
    <dgm:cxn modelId="{B9C5D2F1-6E51-4DD9-A149-32508304415C}" type="presParOf" srcId="{D3853D79-4ACB-41DD-A68C-7C692E01A690}" destId="{B7F2C88D-29F0-4D3E-B517-808FB68EFE77}" srcOrd="1" destOrd="0" presId="urn:microsoft.com/office/officeart/2005/8/layout/chevron1"/>
    <dgm:cxn modelId="{A5516893-93EE-43FF-932B-D9AEE1BB7E2D}" type="presParOf" srcId="{D3853D79-4ACB-41DD-A68C-7C692E01A690}" destId="{A7FCEB46-14F5-41A5-A0A4-2625E00EACA1}" srcOrd="2" destOrd="0" presId="urn:microsoft.com/office/officeart/2005/8/layout/chevron1"/>
    <dgm:cxn modelId="{392894E7-378F-45D7-8D0C-0BD3CD349CC6}" type="presParOf" srcId="{D3853D79-4ACB-41DD-A68C-7C692E01A690}" destId="{9C3850FB-B548-4656-BE81-7BAF99B92540}" srcOrd="3" destOrd="0" presId="urn:microsoft.com/office/officeart/2005/8/layout/chevron1"/>
    <dgm:cxn modelId="{C9351154-F2E0-4630-97C2-C11C72DC9FB7}" type="presParOf" srcId="{D3853D79-4ACB-41DD-A68C-7C692E01A690}" destId="{E1B4DCD0-26D4-4CFF-AFA3-0B3737A8E1BD}" srcOrd="4" destOrd="0" presId="urn:microsoft.com/office/officeart/2005/8/layout/chevron1"/>
    <dgm:cxn modelId="{43324692-8A0A-466E-94E0-AAA35A394685}" type="presParOf" srcId="{D3853D79-4ACB-41DD-A68C-7C692E01A690}" destId="{7597A096-36D4-44B8-8CB0-8B4CA8878B31}" srcOrd="5" destOrd="0" presId="urn:microsoft.com/office/officeart/2005/8/layout/chevron1"/>
    <dgm:cxn modelId="{3D5BACD0-46EB-4B87-9417-21C0F5CB64C6}" type="presParOf" srcId="{D3853D79-4ACB-41DD-A68C-7C692E01A690}" destId="{E5531B45-B93B-4D1A-B6C5-AFF9C2AA3774}" srcOrd="6" destOrd="0" presId="urn:microsoft.com/office/officeart/2005/8/layout/chevron1"/>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31679-98CE-4E88-A5E7-C8DAEF4873E8}">
      <dsp:nvSpPr>
        <dsp:cNvPr id="0" name=""/>
        <dsp:cNvSpPr/>
      </dsp:nvSpPr>
      <dsp:spPr>
        <a:xfrm>
          <a:off x="2362" y="1113234"/>
          <a:ext cx="1412397" cy="564959"/>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kern="1200" dirty="0"/>
            <a:t>Chunking</a:t>
          </a:r>
        </a:p>
      </dsp:txBody>
      <dsp:txXfrm>
        <a:off x="284842" y="1113234"/>
        <a:ext cx="847438" cy="564959"/>
      </dsp:txXfrm>
    </dsp:sp>
    <dsp:sp modelId="{A7FCEB46-14F5-41A5-A0A4-2625E00EACA1}">
      <dsp:nvSpPr>
        <dsp:cNvPr id="0" name=""/>
        <dsp:cNvSpPr/>
      </dsp:nvSpPr>
      <dsp:spPr>
        <a:xfrm>
          <a:off x="1273520" y="1113234"/>
          <a:ext cx="1412397" cy="564959"/>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kern="1200" dirty="0"/>
            <a:t>Vectorisation</a:t>
          </a:r>
        </a:p>
      </dsp:txBody>
      <dsp:txXfrm>
        <a:off x="1556000" y="1113234"/>
        <a:ext cx="847438" cy="5649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31679-98CE-4E88-A5E7-C8DAEF4873E8}">
      <dsp:nvSpPr>
        <dsp:cNvPr id="0" name=""/>
        <dsp:cNvSpPr/>
      </dsp:nvSpPr>
      <dsp:spPr>
        <a:xfrm>
          <a:off x="1247"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Vectorisation</a:t>
          </a:r>
        </a:p>
      </dsp:txBody>
      <dsp:txXfrm>
        <a:off x="146425" y="1250536"/>
        <a:ext cx="435533" cy="290355"/>
      </dsp:txXfrm>
    </dsp:sp>
    <dsp:sp modelId="{A7FCEB46-14F5-41A5-A0A4-2625E00EACA1}">
      <dsp:nvSpPr>
        <dsp:cNvPr id="0" name=""/>
        <dsp:cNvSpPr/>
      </dsp:nvSpPr>
      <dsp:spPr>
        <a:xfrm>
          <a:off x="654546"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err="1"/>
            <a:t>Récuperation</a:t>
          </a:r>
          <a:r>
            <a:rPr lang="fr-FR" sz="500" kern="1200" dirty="0"/>
            <a:t> </a:t>
          </a:r>
          <a:r>
            <a:rPr lang="fr-FR" sz="500" kern="1200" dirty="0" err="1"/>
            <a:t>Vectorstore</a:t>
          </a:r>
          <a:endParaRPr lang="fr-FR" sz="500" kern="1200" dirty="0"/>
        </a:p>
      </dsp:txBody>
      <dsp:txXfrm>
        <a:off x="799724" y="1250536"/>
        <a:ext cx="435533" cy="290355"/>
      </dsp:txXfrm>
    </dsp:sp>
    <dsp:sp modelId="{E1B4DCD0-26D4-4CFF-AFA3-0B3737A8E1BD}">
      <dsp:nvSpPr>
        <dsp:cNvPr id="0" name=""/>
        <dsp:cNvSpPr/>
      </dsp:nvSpPr>
      <dsp:spPr>
        <a:xfrm>
          <a:off x="1307846"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Prompt template</a:t>
          </a:r>
        </a:p>
      </dsp:txBody>
      <dsp:txXfrm>
        <a:off x="1453024" y="1250536"/>
        <a:ext cx="435533" cy="290355"/>
      </dsp:txXfrm>
    </dsp:sp>
    <dsp:sp modelId="{E5531B45-B93B-4D1A-B6C5-AFF9C2AA3774}">
      <dsp:nvSpPr>
        <dsp:cNvPr id="0" name=""/>
        <dsp:cNvSpPr/>
      </dsp:nvSpPr>
      <dsp:spPr>
        <a:xfrm>
          <a:off x="1961145"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LLM</a:t>
          </a:r>
        </a:p>
      </dsp:txBody>
      <dsp:txXfrm>
        <a:off x="2106323" y="1250536"/>
        <a:ext cx="435533" cy="290355"/>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Chers membres du jury, chers spectateurs. Je vous présente aujourd'hui mon mémoire de fin d'études, réalisé dans le cadre de mon alternance au département Prévention Santé-Sécurité de Bouygues Travaux Publics. Le gros sujet cette alternance, c'est ScribBERT : un assistant conversationnel RAG que j'ai développé pour permettre aux collaborateurs d'interroger en langage naturel les référentiels santé-sécurité internes du groupe. Mais la vraie question, et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de Bouygues TP, c’est plus de 130 documents (procédures, référentiels, standards, guides) sur des sujets critiques comme le travail en hauteur ou les espaces confinés. Nos statistiques internes montrent qu'un collaborateur passe en moyenne 2 minutes 30 sur notre </a:t>
            </a:r>
            <a:r>
              <a:rPr lang="fr-FR" sz="1200" b="0" i="0" u="none" strike="noStrike" cap="none" dirty="0" err="1">
                <a:solidFill>
                  <a:schemeClr val="dk1"/>
                </a:solidFill>
                <a:effectLst/>
                <a:latin typeface="Calibri"/>
                <a:ea typeface="Calibri"/>
                <a:cs typeface="Calibri"/>
                <a:sym typeface="Calibri"/>
              </a:rPr>
              <a:t>sharepoint</a:t>
            </a:r>
            <a:r>
              <a:rPr lang="fr-FR" sz="1200" b="0" i="0" u="none" strike="noStrike" cap="none" dirty="0">
                <a:solidFill>
                  <a:schemeClr val="dk1"/>
                </a:solidFill>
                <a:effectLst/>
                <a:latin typeface="Calibri"/>
                <a:ea typeface="Calibri"/>
                <a:cs typeface="Calibri"/>
                <a:sym typeface="Calibri"/>
              </a:rPr>
              <a:t> pour trouver le bon document, jusqu'à 10 minutes sur les cas complexes. Et une fois le bon document trouvé, il faut fouiller dans les pages pour trouver la bonne information. Le problème c’est que ces recherches précèdent souvent des décisions opérationnelles.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une obligation restituée comme une simple recommandation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La thèse que je défends dans ce mémoire tient en une phrase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l'on parte tous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(c'est ce qu'on appelle une hallucination) et il ne cite pas ses sources. À l'inverse, un moteur de recherche documentaire classique vous trouve, comme son nom l’indique,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concrète : imaginez un étudiant en Mastère 2 IA à l'École Hexagone. On lui pose une question, il ne répond pas de mémoire, il fait ses recherches, consulte ses sources, puis rédige sa réponse en les citant. C'est exactement ce que fait un RAG. Quand un utilisateur pose une question, le système commence par chercher dans un corpus documentaire les passages les plus pertinents, et les donne au modèle de langage, qui va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Techniquement, cette chaîne se décompose en cinq étages, et c'est là que se cachent les vraies difficultés. »</a:t>
            </a:r>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RAG, c'est en réalité deux chaînes distinctes qui se rejoignent en un point commun : la base de données vectorielle.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première, c'est la chaîne d'ingestion elle tourne en amont, lorsqu’un document est ajouté. On part d’un document PDF, on le découpe en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on transforme chaque chunk en vecteur, et on l'envoie dans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C'est là que se cachent les premières sources d'erreur :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tableau perdu à l'extraction, un terme métier mal capturé par le modèle de vectorisation.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deuxième, c'est la chaîne de requête. Qui comme son nom l’indique, s'exécute à chaque question. La question de l’utilisateur est vectorisée, on interroge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pour récupérer les passages les plus proches, on les injecte dans un prompt template (une sorte de texte à trou), et on envoie le tout au modèle de langage qui rédige la réponse. Les défaillances ici sont différentes : un passage thématiquement proche mais non applicable remonté, ou une extrapolation du modèle à la génération.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c'est que ces deux chaînes ont chacune leurs propres modes d'échec, souvent invisibles si on ne regarde que la réponse finale. Un excellent score de récupération reste parfaitement compatible avec une réponse fausse. C'est ce qui rend nécessaire une évaluation décomposable, dimension par dimension.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La Première dimension, et la plus intuitive : la pertinence de récupération,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a:t>
            </a:r>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sont les endroits où peut naître l’erreur. C'est la structure de la chaîne. Les cinq dimensions que je vais présenter maintenant, c'est ce qu'on mesure sur le système. Ce sont deux grilles différentes, qui se croisent et c'est d’ailleurs précisément ce croisement qui va rendre l'analyse d'erreurs actionnable, en fin de présentation.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K étant un nombre entier, supérieur ou égal à 0 (bien que 0 corresponde à l’absence de rag). On dispose ici de métriques classiques héritées de la recherche d'information: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que j'ai adaptées à un jeu de test que j'ai construit sur mesure : 50 questions annotées manuellement, stratifiées par type, difficulté, criticité métier et langue.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une quasi-égalité statistique. Ce qui veut dire que le choix se fait sur les critères pratiques — latence, coût, souveraineté — pas sur la MRR seule.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grande fenêtre de contexte — embed-3-large, Nomic, Qwen3 —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 ils exploitent le contexte long pour mieux discriminer. Les modèles francophones spécialisés — Solon, </a:t>
            </a:r>
            <a:r>
              <a:rPr lang="fr-FR" sz="1200" b="0" i="0" u="none" strike="noStrike" cap="none" dirty="0" err="1">
                <a:solidFill>
                  <a:schemeClr val="dk1"/>
                </a:solidFill>
                <a:effectLst/>
                <a:latin typeface="Calibri"/>
                <a:ea typeface="Calibri"/>
                <a:cs typeface="Calibri"/>
                <a:sym typeface="Calibri"/>
              </a:rPr>
              <a:t>CamemBERT</a:t>
            </a:r>
            <a:r>
              <a:rPr lang="fr-FR" sz="1200" b="0" i="0" u="none" strike="noStrike" cap="none" dirty="0">
                <a:solidFill>
                  <a:schemeClr val="dk1"/>
                </a:solidFill>
                <a:effectLst/>
                <a:latin typeface="Calibri"/>
                <a:ea typeface="Calibri"/>
                <a:cs typeface="Calibri"/>
                <a:sym typeface="Calibri"/>
              </a:rPr>
              <a:t>-large —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qui respecte les unités sémantiques naturelles de la langue. Les modèles compacts — MiniLM-L6, multilingual-e5-small —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 leur fenêtre de 512 tokens sature, et la représentation se dégrade.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 C'est un vrai résultat, et c'est ce qui a justifié de garder tout le plan factoriel plutôt que de figer une stratégie a priori.</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bon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est nécessaire, mais pas suffisant. Deuxième dimension : la fidélité aux sources.</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dense plus BM25 avec fusion RRF —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cible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matures, il faudra passer à un modèle plus récent — GPT-4o, Claude Sonnet, Mistral Large — et durcir la consigne de citation.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dans sa meilleure configuration. Mais surtout, en latence, on est à 36 secondes par question contre 5 secondes pour Azure. Pas viable pour du temps réel. Il reste néanmoins pertinent comme voie de repli souverain, pour les chantiers en environnement isolé — nucléaire, militaire — où on ne peut pas sortir d'Internet.</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Troisième dimension, qui capture ce qu'aucune des deux premières ne voit : la pertinence de la réponse elle-même.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endParaRPr lang="fr-FR" sz="12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Quatrième dimension, celle qui est le plus souvent oubliée par les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existants : la stabilité. »</a:t>
            </a:r>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a certes été bon une fois, mais n’est pas fiable. Pour un usage santé-sécurité, la variabilité fait partie intégrante de la fiabilité perçue.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donc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selon moi un des indicateurs prioritaires à améliorer pour la mise en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Cinquième et dernière dimension, celle qui fait le lien avec les enjeux de conformité : la traçabilité. »</a:t>
            </a: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 Une réponse ne suffit pas ; il faut pouvoir prouver d'où elle vient. Dans un contexte santé-sécurité, et d’autant plus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dont vous voyez d’ailleurs à l'écran une capture d’écran — chaque affirmation est rattachée aux documents d'origine et aux pages utilisées pour construire la réponse. L'utilisateur clique sur la citation, le PDF s'ouvre à la bonne page. Rien de spectaculaire techniquement, mais c'est spécifiquement cette chaîne complète qui rend la réponse auditable, et d’ailleurs, des discussions que j’ai pu avoir avec des utilisateurs tests, la présence systématique des sources vérifiables est un facteur très important dans l’acceptabilité de la solution.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des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Ces cinq dimensions, prises ensemble, permettent quelque chose que les scores globaux ne permettent pas : diagnostiquer où la chaîne échoue. »</a:t>
            </a:r>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 les deux premières lignes du tableau — touchent tous les deux la dimension 1. La distinction est importante : l'échec signifie que le bon chunk n'a pas été remonté du tout, d'où le recours au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pour reformuler automatiquement la question avant la recherche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 — c'est ce qu'on appelle un refus contrôlé.</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Ici,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on remonte le chunk pertinent mais on injecte aussi son contexte paragraphe parent.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 cas le plus préoccupant — est aussi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 et à bloquer ou annoter les divergences.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 soit le système refuse une question légitime parce que le seuil de pertinence est trop conservateur, soit il accepte une question hors-corpus parce que le seuil est trop permissif. Dans les deux cas, la réponse est une calibration fine du seuil sur données annotées.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et de restituer la modalité déontique du texte source avant de formuler sa réponse.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Concrètement, qu'est-ce que ce diagnostic change pour ScribBERT ? »</a:t>
            </a:r>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depuis mi-2025.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 juridique, ressources humaines, finance.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La boucle est bouclée, Je referme là où j'ai commencé. La fiabilité d'un système RAG en contexte critique ne se résume pas à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a:t>
            </a:r>
            <a:r>
              <a:rPr lang="fr-FR" sz="1200" b="0" i="0" u="none" strike="noStrike" cap="none">
                <a:solidFill>
                  <a:schemeClr val="dk1"/>
                </a:solidFill>
                <a:effectLst/>
                <a:latin typeface="Calibri"/>
                <a:ea typeface="Calibri"/>
                <a:cs typeface="Calibri"/>
                <a:sym typeface="Calibri"/>
              </a:rPr>
              <a:t>suis désormais à </a:t>
            </a:r>
            <a:r>
              <a:rPr lang="fr-FR" sz="1200" b="0" i="0" u="none" strike="noStrike" cap="none" dirty="0">
                <a:solidFill>
                  <a:schemeClr val="dk1"/>
                </a:solidFill>
                <a:effectLst/>
                <a:latin typeface="Calibri"/>
                <a:ea typeface="Calibri"/>
                <a:cs typeface="Calibri"/>
                <a:sym typeface="Calibri"/>
              </a:rPr>
              <a:t>votre disposition pour vos questions.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13" Type="http://schemas.microsoft.com/office/2007/relationships/diagramDrawing" Target="../diagrams/drawing2.xml"/><Relationship Id="rId3" Type="http://schemas.openxmlformats.org/officeDocument/2006/relationships/image" Target="../media/image14.png"/><Relationship Id="rId7" Type="http://schemas.openxmlformats.org/officeDocument/2006/relationships/diagramColors" Target="../diagrams/colors1.xml"/><Relationship Id="rId12" Type="http://schemas.openxmlformats.org/officeDocument/2006/relationships/diagramColors" Target="../diagrams/colors2.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diagramQuickStyle" Target="../diagrams/quickStyle1.xml"/><Relationship Id="rId11" Type="http://schemas.openxmlformats.org/officeDocument/2006/relationships/diagramQuickStyle" Target="../diagrams/quickStyle2.xml"/><Relationship Id="rId5" Type="http://schemas.openxmlformats.org/officeDocument/2006/relationships/diagramLayout" Target="../diagrams/layout1.xml"/><Relationship Id="rId10" Type="http://schemas.openxmlformats.org/officeDocument/2006/relationships/diagramLayout" Target="../diagrams/layout2.xml"/><Relationship Id="rId4" Type="http://schemas.openxmlformats.org/officeDocument/2006/relationships/diagramData" Target="../diagrams/data1.xml"/><Relationship Id="rId9" Type="http://schemas.openxmlformats.org/officeDocument/2006/relationships/diagramData" Target="../diagrams/data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Le </a:t>
            </a:r>
            <a:r>
              <a:rPr lang="en-US" sz="2800" b="1" dirty="0" err="1">
                <a:solidFill>
                  <a:schemeClr val="tx1"/>
                </a:solidFill>
                <a:latin typeface="Avenir"/>
                <a:sym typeface="Patrick Hand"/>
              </a:rPr>
              <a:t>problème</a:t>
            </a:r>
            <a:r>
              <a:rPr lang="en-US" sz="2800" b="1" dirty="0">
                <a:solidFill>
                  <a:schemeClr val="tx1"/>
                </a:solidFill>
                <a:latin typeface="Avenir"/>
                <a:sym typeface="Patrick Hand"/>
              </a:rPr>
              <a:t> à </a:t>
            </a:r>
            <a:r>
              <a:rPr lang="en-US" sz="2800" b="1" dirty="0" err="1">
                <a:solidFill>
                  <a:schemeClr val="tx1"/>
                </a:solidFill>
                <a:latin typeface="Avenir"/>
                <a:sym typeface="Patrick Hand"/>
              </a:rPr>
              <a:t>résoudre</a:t>
            </a:r>
            <a:r>
              <a:rPr lang="en-US" sz="2800" b="1" dirty="0">
                <a:solidFill>
                  <a:schemeClr val="tx1"/>
                </a:solidFill>
                <a:latin typeface="Avenir"/>
                <a:sym typeface="Patrick Hand"/>
              </a:rPr>
              <a:t> : Un </a:t>
            </a:r>
            <a:r>
              <a:rPr lang="en-US" sz="2800" b="1" dirty="0" err="1">
                <a:solidFill>
                  <a:schemeClr val="tx1"/>
                </a:solidFill>
                <a:latin typeface="Avenir"/>
                <a:sym typeface="Patrick Hand"/>
              </a:rPr>
              <a:t>environnement</a:t>
            </a:r>
            <a:r>
              <a:rPr lang="en-US" sz="2800" b="1" dirty="0">
                <a:solidFill>
                  <a:schemeClr val="tx1"/>
                </a:solidFill>
                <a:latin typeface="Avenir"/>
                <a:sym typeface="Patrick Hand"/>
              </a:rPr>
              <a:t> </a:t>
            </a:r>
            <a:r>
              <a:rPr lang="en-US" sz="2800" b="1" dirty="0" err="1">
                <a:solidFill>
                  <a:schemeClr val="tx1"/>
                </a:solidFill>
                <a:latin typeface="Avenir"/>
                <a:sym typeface="Patrick Hand"/>
              </a:rPr>
              <a:t>documentaire</a:t>
            </a:r>
            <a:r>
              <a:rPr lang="en-US" sz="2800" b="1" dirty="0">
                <a:solidFill>
                  <a:schemeClr val="tx1"/>
                </a:solidFill>
                <a:latin typeface="Avenir"/>
                <a:sym typeface="Patrick Hand"/>
              </a:rPr>
              <a:t> sous tension</a:t>
            </a:r>
            <a:endParaRPr sz="2800" b="1" dirty="0">
              <a:solidFill>
                <a:schemeClr val="tx1"/>
              </a:solidFill>
              <a:latin typeface="Avenir"/>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p56"/>
          <p:cNvSpPr/>
          <p:nvPr/>
        </p:nvSpPr>
        <p:spPr>
          <a:xfrm>
            <a:off x="690048" y="739202"/>
            <a:ext cx="11520000" cy="396776"/>
          </a:xfrm>
          <a:prstGeom prst="rect">
            <a:avLst/>
          </a:prstGeom>
          <a:noFill/>
          <a:ln>
            <a:noFill/>
          </a:ln>
        </p:spPr>
        <p:txBody>
          <a:bodyPr spcFirstLastPara="1" wrap="square" lIns="0" tIns="0" rIns="0" bIns="0" anchor="t" anchorCtr="0">
            <a:noAutofit/>
          </a:bodyPr>
          <a:lstStyle/>
          <a:p>
            <a:pPr marL="0" lvl="0" indent="0">
              <a:buClr>
                <a:schemeClr val="dk1"/>
              </a:buClr>
              <a:buSzPts val="3800"/>
              <a:buFont typeface="Arial"/>
              <a:buNone/>
            </a:pPr>
            <a:r>
              <a:rPr lang="en-US" sz="2800" b="1" dirty="0">
                <a:solidFill>
                  <a:schemeClr val="tx1"/>
                </a:solidFill>
                <a:latin typeface="Avenir"/>
                <a:sym typeface="Patrick Hand"/>
              </a:rPr>
              <a:t>La </a:t>
            </a:r>
            <a:r>
              <a:rPr lang="en-US" sz="2800" b="1" dirty="0" err="1">
                <a:solidFill>
                  <a:schemeClr val="tx1"/>
                </a:solidFill>
                <a:latin typeface="Avenir"/>
                <a:sym typeface="Patrick Hand"/>
              </a:rPr>
              <a:t>fiabilité</a:t>
            </a:r>
            <a:r>
              <a:rPr lang="en-US" sz="2800" b="1" dirty="0">
                <a:solidFill>
                  <a:schemeClr val="tx1"/>
                </a:solidFill>
                <a:latin typeface="Avenir"/>
                <a:sym typeface="Patrick Hand"/>
              </a:rPr>
              <a:t> d'un RAG </a:t>
            </a:r>
            <a:r>
              <a:rPr lang="en-US" sz="2800" b="1" dirty="0" err="1">
                <a:solidFill>
                  <a:schemeClr val="tx1"/>
                </a:solidFill>
                <a:latin typeface="Avenir"/>
                <a:sym typeface="Patrick Hand"/>
              </a:rPr>
              <a:t>n'est</a:t>
            </a:r>
            <a:r>
              <a:rPr lang="en-US" sz="2800" b="1" dirty="0">
                <a:solidFill>
                  <a:schemeClr val="tx1"/>
                </a:solidFill>
                <a:latin typeface="Avenir"/>
                <a:sym typeface="Patrick Hand"/>
              </a:rPr>
              <a:t> pas un score.</a:t>
            </a:r>
            <a:endParaRPr sz="2800" b="1" dirty="0">
              <a:solidFill>
                <a:schemeClr val="tx1"/>
              </a:solidFill>
              <a:latin typeface="Avenir"/>
              <a:sym typeface="Calibri"/>
            </a:endParaRPr>
          </a:p>
        </p:txBody>
      </p:sp>
      <p:sp>
        <p:nvSpPr>
          <p:cNvPr id="566" name="Google Shape;566;p56"/>
          <p:cNvSpPr/>
          <p:nvPr/>
        </p:nvSpPr>
        <p:spPr>
          <a:xfrm>
            <a:off x="500401" y="1601093"/>
            <a:ext cx="11191198" cy="1203047"/>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1056960" y="3394381"/>
            <a:ext cx="2888483"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sp>
        <p:nvSpPr>
          <p:cNvPr id="584" name="Google Shape;584;p57"/>
          <p:cNvSpPr/>
          <p:nvPr/>
        </p:nvSpPr>
        <p:spPr>
          <a:xfrm>
            <a:off x="695324" y="738889"/>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Fondamentaux RAG 1/2</a:t>
            </a:r>
            <a:r>
              <a:rPr lang="en-US" sz="2800" b="1" dirty="0">
                <a:solidFill>
                  <a:schemeClr val="tx1"/>
                </a:solidFill>
                <a:latin typeface="Avenir"/>
                <a:sym typeface="Calibri"/>
              </a:rPr>
              <a:t> : </a:t>
            </a:r>
            <a:r>
              <a:rPr lang="en-US" sz="2800" b="1" dirty="0">
                <a:solidFill>
                  <a:schemeClr val="tx1"/>
                </a:solidFill>
                <a:latin typeface="Avenir"/>
                <a:sym typeface="Patrick Hand"/>
              </a:rPr>
              <a:t>Le RAG, </a:t>
            </a:r>
            <a:r>
              <a:rPr lang="en-US" sz="2800" b="1" dirty="0" err="1">
                <a:solidFill>
                  <a:schemeClr val="tx1"/>
                </a:solidFill>
                <a:latin typeface="Avenir"/>
                <a:sym typeface="Patrick Hand"/>
              </a:rPr>
              <a:t>en</a:t>
            </a:r>
            <a:r>
              <a:rPr lang="en-US" sz="2800" b="1" dirty="0">
                <a:solidFill>
                  <a:schemeClr val="tx1"/>
                </a:solidFill>
                <a:latin typeface="Avenir"/>
                <a:sym typeface="Patrick Hand"/>
              </a:rPr>
              <a:t> pratique</a:t>
            </a:r>
            <a:endParaRPr sz="2800" b="1" dirty="0">
              <a:solidFill>
                <a:schemeClr val="tx1"/>
              </a:solidFill>
              <a:latin typeface="Avenir"/>
              <a:sym typeface="Calibri"/>
            </a:endParaRPr>
          </a:p>
        </p:txBody>
      </p:sp>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Le RAG combine les deux approches : il ancre la génération dans des sources vérifiables et citées.</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9" name="Google Shape;609;p58"/>
          <p:cNvSpPr/>
          <p:nvPr/>
        </p:nvSpPr>
        <p:spPr>
          <a:xfrm>
            <a:off x="672000" y="74171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Fondamentaux RAG 2/2</a:t>
            </a:r>
            <a:r>
              <a:rPr lang="en-US" sz="2800" b="1" dirty="0">
                <a:solidFill>
                  <a:schemeClr val="tx1"/>
                </a:solidFill>
                <a:latin typeface="Avenir"/>
                <a:sym typeface="Calibri"/>
              </a:rPr>
              <a:t> : </a:t>
            </a:r>
            <a:r>
              <a:rPr lang="en-US" sz="2800" b="1" dirty="0" err="1">
                <a:solidFill>
                  <a:schemeClr val="tx1"/>
                </a:solidFill>
                <a:latin typeface="Avenir"/>
                <a:sym typeface="Calibri"/>
              </a:rPr>
              <a:t>Anatomie</a:t>
            </a:r>
            <a:r>
              <a:rPr lang="en-US" sz="2800" b="1" dirty="0">
                <a:solidFill>
                  <a:schemeClr val="tx1"/>
                </a:solidFill>
                <a:latin typeface="Avenir"/>
                <a:sym typeface="Calibri"/>
              </a:rPr>
              <a:t> </a:t>
            </a:r>
            <a:r>
              <a:rPr lang="en-US" sz="2800" b="1" dirty="0" err="1">
                <a:solidFill>
                  <a:schemeClr val="tx1"/>
                </a:solidFill>
                <a:latin typeface="Avenir"/>
                <a:sym typeface="Calibri"/>
              </a:rPr>
              <a:t>d'une</a:t>
            </a:r>
            <a:r>
              <a:rPr lang="en-US" sz="2800" b="1" dirty="0">
                <a:solidFill>
                  <a:schemeClr val="tx1"/>
                </a:solidFill>
                <a:latin typeface="Avenir"/>
                <a:sym typeface="Calibri"/>
              </a:rPr>
              <a:t> </a:t>
            </a:r>
            <a:r>
              <a:rPr lang="en-US" sz="2800" b="1" dirty="0" err="1">
                <a:solidFill>
                  <a:schemeClr val="tx1"/>
                </a:solidFill>
                <a:latin typeface="Avenir"/>
                <a:sym typeface="Calibri"/>
              </a:rPr>
              <a:t>chaîne</a:t>
            </a:r>
            <a:r>
              <a:rPr lang="en-US" sz="2800" b="1" dirty="0">
                <a:solidFill>
                  <a:schemeClr val="tx1"/>
                </a:solidFill>
                <a:latin typeface="Avenir"/>
                <a:sym typeface="Calibri"/>
              </a:rPr>
              <a:t> RAG</a:t>
            </a:r>
            <a:endParaRPr sz="2800" b="1" dirty="0">
              <a:solidFill>
                <a:schemeClr val="tx1"/>
              </a:solidFill>
              <a:latin typeface="Avenir"/>
              <a:sym typeface="Calibri"/>
            </a:endParaRPr>
          </a:p>
        </p:txBody>
      </p:sp>
      <p:sp>
        <p:nvSpPr>
          <p:cNvPr id="611" name="Google Shape;611;p58"/>
          <p:cNvSpPr/>
          <p:nvPr/>
        </p:nvSpPr>
        <p:spPr>
          <a:xfrm>
            <a:off x="805193" y="5715116"/>
            <a:ext cx="10581613" cy="315714"/>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920184" y="5822924"/>
            <a:ext cx="143764" cy="114995"/>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sz="900" b="0" i="0" u="none" strike="noStrike" cap="none" dirty="0" err="1">
                <a:solidFill>
                  <a:schemeClr val="tx1"/>
                </a:solidFill>
                <a:latin typeface="Barlow" panose="00000500000000000000" pitchFamily="2" charset="0"/>
                <a:ea typeface="Patrick Hand"/>
                <a:cs typeface="Patrick Hand"/>
                <a:sym typeface="Patrick Hand"/>
              </a:rPr>
              <a:t>Chaque</a:t>
            </a:r>
            <a:r>
              <a:rPr lang="en-US" sz="900" b="0" i="0" u="none" strike="noStrike" cap="none" dirty="0">
                <a:solidFill>
                  <a:schemeClr val="tx1"/>
                </a:solidFill>
                <a:latin typeface="Barlow" panose="00000500000000000000" pitchFamily="2" charset="0"/>
                <a:ea typeface="Patrick Hand"/>
                <a:cs typeface="Patrick Hand"/>
                <a:sym typeface="Patrick Hand"/>
              </a:rPr>
              <a:t> étage </a:t>
            </a:r>
            <a:r>
              <a:rPr lang="en-US" sz="900" b="0" i="0" u="none" strike="noStrike" cap="none" dirty="0" err="1">
                <a:solidFill>
                  <a:schemeClr val="tx1"/>
                </a:solidFill>
                <a:latin typeface="Barlow" panose="00000500000000000000" pitchFamily="2" charset="0"/>
                <a:ea typeface="Patrick Hand"/>
                <a:cs typeface="Patrick Hand"/>
                <a:sym typeface="Patrick Hand"/>
              </a:rPr>
              <a:t>peut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défaillir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L'évaluation</a:t>
            </a:r>
            <a:r>
              <a:rPr lang="en-US" sz="900" b="0" i="0" u="none" strike="noStrike" cap="none" dirty="0">
                <a:solidFill>
                  <a:schemeClr val="tx1"/>
                </a:solidFill>
                <a:latin typeface="Barlow" panose="00000500000000000000" pitchFamily="2" charset="0"/>
                <a:ea typeface="Patrick Hand"/>
                <a:cs typeface="Patrick Hand"/>
                <a:sym typeface="Patrick Hand"/>
              </a:rPr>
              <a:t> doit </a:t>
            </a:r>
            <a:r>
              <a:rPr lang="en-US" sz="900" b="0" i="0" u="none" strike="noStrike" cap="none" dirty="0" err="1">
                <a:solidFill>
                  <a:schemeClr val="tx1"/>
                </a:solidFill>
                <a:latin typeface="Barlow" panose="00000500000000000000" pitchFamily="2" charset="0"/>
                <a:ea typeface="Patrick Hand"/>
                <a:cs typeface="Patrick Hand"/>
                <a:sym typeface="Patrick Hand"/>
              </a:rPr>
              <a:t>être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granulaire</a:t>
            </a:r>
            <a:r>
              <a:rPr lang="en-US" sz="900" b="0" i="0" u="none" strike="noStrike" cap="none" dirty="0">
                <a:solidFill>
                  <a:schemeClr val="tx1"/>
                </a:solidFill>
                <a:latin typeface="Barlow" panose="00000500000000000000" pitchFamily="2" charset="0"/>
                <a:ea typeface="Patrick Hand"/>
                <a:cs typeface="Patrick Hand"/>
                <a:sym typeface="Patrick Hand"/>
              </a:rPr>
              <a:t>, dimension par dimension.</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graphicFrame>
        <p:nvGraphicFramePr>
          <p:cNvPr id="2" name="Diagramme 1">
            <a:extLst>
              <a:ext uri="{FF2B5EF4-FFF2-40B4-BE49-F238E27FC236}">
                <a16:creationId xmlns:a16="http://schemas.microsoft.com/office/drawing/2014/main" id="{06E639B4-ED3C-4BE6-2AC0-EE1A61428124}"/>
              </a:ext>
            </a:extLst>
          </p:cNvPr>
          <p:cNvGraphicFramePr/>
          <p:nvPr>
            <p:extLst>
              <p:ext uri="{D42A27DB-BD31-4B8C-83A1-F6EECF244321}">
                <p14:modId xmlns:p14="http://schemas.microsoft.com/office/powerpoint/2010/main" val="4172084767"/>
              </p:ext>
            </p:extLst>
          </p:nvPr>
        </p:nvGraphicFramePr>
        <p:xfrm>
          <a:off x="3841887" y="1227861"/>
          <a:ext cx="2688281" cy="279142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ZoneTexte 3">
            <a:extLst>
              <a:ext uri="{FF2B5EF4-FFF2-40B4-BE49-F238E27FC236}">
                <a16:creationId xmlns:a16="http://schemas.microsoft.com/office/drawing/2014/main" id="{F0526974-4191-EF40-1BA6-66854F705DE3}"/>
              </a:ext>
            </a:extLst>
          </p:cNvPr>
          <p:cNvSpPr txBox="1"/>
          <p:nvPr/>
        </p:nvSpPr>
        <p:spPr>
          <a:xfrm>
            <a:off x="6730314" y="2627870"/>
            <a:ext cx="1149674" cy="307777"/>
          </a:xfrm>
          <a:prstGeom prst="rect">
            <a:avLst/>
          </a:prstGeom>
          <a:noFill/>
        </p:spPr>
        <p:txBody>
          <a:bodyPr wrap="none" rtlCol="0">
            <a:spAutoFit/>
          </a:bodyPr>
          <a:lstStyle/>
          <a:p>
            <a:r>
              <a:rPr lang="fr-FR" dirty="0" err="1"/>
              <a:t>Vector</a:t>
            </a:r>
            <a:r>
              <a:rPr lang="fr-FR" dirty="0"/>
              <a:t> store</a:t>
            </a:r>
          </a:p>
        </p:txBody>
      </p:sp>
      <p:sp>
        <p:nvSpPr>
          <p:cNvPr id="5" name="ZoneTexte 4">
            <a:extLst>
              <a:ext uri="{FF2B5EF4-FFF2-40B4-BE49-F238E27FC236}">
                <a16:creationId xmlns:a16="http://schemas.microsoft.com/office/drawing/2014/main" id="{EA92A5CA-C26D-67DD-D001-54AF4830D79A}"/>
              </a:ext>
            </a:extLst>
          </p:cNvPr>
          <p:cNvSpPr txBox="1"/>
          <p:nvPr/>
        </p:nvSpPr>
        <p:spPr>
          <a:xfrm>
            <a:off x="2841292" y="2520504"/>
            <a:ext cx="1000595" cy="307777"/>
          </a:xfrm>
          <a:prstGeom prst="rect">
            <a:avLst/>
          </a:prstGeom>
          <a:noFill/>
        </p:spPr>
        <p:txBody>
          <a:bodyPr wrap="none" rtlCol="0">
            <a:spAutoFit/>
          </a:bodyPr>
          <a:lstStyle/>
          <a:p>
            <a:r>
              <a:rPr lang="fr-FR" dirty="0"/>
              <a:t>Document</a:t>
            </a:r>
          </a:p>
        </p:txBody>
      </p:sp>
      <p:graphicFrame>
        <p:nvGraphicFramePr>
          <p:cNvPr id="6" name="Diagramme 5">
            <a:extLst>
              <a:ext uri="{FF2B5EF4-FFF2-40B4-BE49-F238E27FC236}">
                <a16:creationId xmlns:a16="http://schemas.microsoft.com/office/drawing/2014/main" id="{78FDE50F-97BE-0F14-85D0-F9149E39820A}"/>
              </a:ext>
            </a:extLst>
          </p:cNvPr>
          <p:cNvGraphicFramePr/>
          <p:nvPr>
            <p:extLst>
              <p:ext uri="{D42A27DB-BD31-4B8C-83A1-F6EECF244321}">
                <p14:modId xmlns:p14="http://schemas.microsoft.com/office/powerpoint/2010/main" val="743804984"/>
              </p:ext>
            </p:extLst>
          </p:nvPr>
        </p:nvGraphicFramePr>
        <p:xfrm>
          <a:off x="3841886" y="2797405"/>
          <a:ext cx="2688281" cy="279142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7" name="ZoneTexte 6">
            <a:extLst>
              <a:ext uri="{FF2B5EF4-FFF2-40B4-BE49-F238E27FC236}">
                <a16:creationId xmlns:a16="http://schemas.microsoft.com/office/drawing/2014/main" id="{53BFE7E8-401A-2C76-5786-ECDB063A28A2}"/>
              </a:ext>
            </a:extLst>
          </p:cNvPr>
          <p:cNvSpPr txBox="1"/>
          <p:nvPr/>
        </p:nvSpPr>
        <p:spPr>
          <a:xfrm>
            <a:off x="2207740" y="4039231"/>
            <a:ext cx="1747594" cy="307777"/>
          </a:xfrm>
          <a:prstGeom prst="rect">
            <a:avLst/>
          </a:prstGeom>
          <a:noFill/>
        </p:spPr>
        <p:txBody>
          <a:bodyPr wrap="none" rtlCol="0">
            <a:spAutoFit/>
          </a:bodyPr>
          <a:lstStyle/>
          <a:p>
            <a:r>
              <a:rPr lang="fr-FR" dirty="0"/>
              <a:t>Question Utilisateur</a:t>
            </a:r>
          </a:p>
        </p:txBody>
      </p:sp>
      <p:sp>
        <p:nvSpPr>
          <p:cNvPr id="8" name="ZoneTexte 7">
            <a:extLst>
              <a:ext uri="{FF2B5EF4-FFF2-40B4-BE49-F238E27FC236}">
                <a16:creationId xmlns:a16="http://schemas.microsoft.com/office/drawing/2014/main" id="{A9A4C5A4-557C-D938-BD2B-344A6B935B0A}"/>
              </a:ext>
            </a:extLst>
          </p:cNvPr>
          <p:cNvSpPr txBox="1"/>
          <p:nvPr/>
        </p:nvSpPr>
        <p:spPr>
          <a:xfrm>
            <a:off x="6489074" y="4039231"/>
            <a:ext cx="901209" cy="307777"/>
          </a:xfrm>
          <a:prstGeom prst="rect">
            <a:avLst/>
          </a:prstGeom>
          <a:noFill/>
        </p:spPr>
        <p:txBody>
          <a:bodyPr wrap="none" rtlCol="0">
            <a:spAutoFit/>
          </a:bodyPr>
          <a:lstStyle/>
          <a:p>
            <a:r>
              <a:rPr lang="fr-FR" dirty="0" err="1"/>
              <a:t>Reponse</a:t>
            </a:r>
            <a:endParaRPr lang="fr-F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1" name="Google Shape;621;p59"/>
          <p:cNvSpPr/>
          <p:nvPr/>
        </p:nvSpPr>
        <p:spPr>
          <a:xfrm>
            <a:off x="695325" y="746942"/>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1/5 : Pertinence du retrieval</a:t>
            </a:r>
            <a:endParaRPr sz="2800" b="1" dirty="0">
              <a:solidFill>
                <a:schemeClr val="tx1"/>
              </a:solidFill>
              <a:latin typeface="Avenir"/>
              <a:sym typeface="Calibri"/>
            </a:endParaRPr>
          </a:p>
        </p:txBody>
      </p:sp>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5" name="Google Shape;645;p60"/>
          <p:cNvSpPr/>
          <p:nvPr/>
        </p:nvSpPr>
        <p:spPr>
          <a:xfrm>
            <a:off x="600000" y="741607"/>
            <a:ext cx="11592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2/5 : </a:t>
            </a:r>
            <a:r>
              <a:rPr lang="en-US" sz="2800" b="1" dirty="0" err="1">
                <a:solidFill>
                  <a:schemeClr val="tx1"/>
                </a:solidFill>
                <a:latin typeface="Avenir"/>
                <a:sym typeface="Patrick Hand"/>
              </a:rPr>
              <a:t>Fidélité</a:t>
            </a:r>
            <a:r>
              <a:rPr lang="en-US" sz="2800" b="1" dirty="0">
                <a:solidFill>
                  <a:schemeClr val="tx1"/>
                </a:solidFill>
                <a:latin typeface="Avenir"/>
                <a:sym typeface="Patrick Hand"/>
              </a:rPr>
              <a:t> aux sources</a:t>
            </a:r>
            <a:endParaRPr sz="2800" b="1" dirty="0">
              <a:solidFill>
                <a:schemeClr val="tx1"/>
              </a:solidFill>
              <a:latin typeface="Avenir"/>
              <a:sym typeface="Calibri"/>
            </a:endParaRPr>
          </a:p>
        </p:txBody>
      </p:sp>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1" name="Google Shape;661;p61"/>
          <p:cNvSpPr/>
          <p:nvPr/>
        </p:nvSpPr>
        <p:spPr>
          <a:xfrm>
            <a:off x="695325" y="744492"/>
            <a:ext cx="11520000" cy="396000"/>
          </a:xfrm>
          <a:prstGeom prst="rect">
            <a:avLst/>
          </a:prstGeom>
          <a:noFill/>
          <a:ln>
            <a:noFill/>
          </a:ln>
        </p:spPr>
        <p:txBody>
          <a:bodyPr spcFirstLastPara="1" wrap="square" lIns="0" tIns="0" rIns="0" bIns="0" anchor="t" anchorCtr="0">
            <a:noAutofit/>
          </a:bodyPr>
          <a:lstStyle/>
          <a:p>
            <a:pPr lvl="0">
              <a:buClr>
                <a:schemeClr val="dk1"/>
              </a:buClr>
              <a:buSzPts val="3800"/>
            </a:pPr>
            <a:r>
              <a:rPr lang="en-US" sz="2800" b="1" dirty="0">
                <a:solidFill>
                  <a:schemeClr val="tx1"/>
                </a:solidFill>
                <a:latin typeface="Avenir"/>
                <a:sym typeface="Patrick Hand"/>
              </a:rPr>
              <a:t>Dimension 3/5 : </a:t>
            </a:r>
            <a:r>
              <a:rPr lang="en-US" sz="2800" b="1" dirty="0">
                <a:solidFill>
                  <a:schemeClr val="tx1"/>
                </a:solidFill>
                <a:latin typeface="Avenir"/>
                <a:sym typeface="Inter"/>
              </a:rPr>
              <a:t>Pertinence de la </a:t>
            </a:r>
            <a:r>
              <a:rPr lang="en-US" sz="2800" b="1" dirty="0" err="1">
                <a:solidFill>
                  <a:schemeClr val="tx1"/>
                </a:solidFill>
                <a:latin typeface="Avenir"/>
                <a:sym typeface="Inter"/>
              </a:rPr>
              <a:t>réponse</a:t>
            </a:r>
            <a:endParaRPr sz="2800" b="1" dirty="0">
              <a:solidFill>
                <a:schemeClr val="tx1"/>
              </a:solidFill>
              <a:latin typeface="Avenir"/>
              <a:sym typeface="Calibri"/>
            </a:endParaRPr>
          </a:p>
        </p:txBody>
      </p:sp>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5" name="Google Shape;675;p62"/>
          <p:cNvSpPr/>
          <p:nvPr/>
        </p:nvSpPr>
        <p:spPr>
          <a:xfrm>
            <a:off x="695325" y="740653"/>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4/5 : </a:t>
            </a:r>
            <a:r>
              <a:rPr lang="en-US" sz="2800" b="1" dirty="0" err="1">
                <a:solidFill>
                  <a:schemeClr val="tx1"/>
                </a:solidFill>
                <a:latin typeface="Avenir"/>
                <a:sym typeface="Inter"/>
              </a:rPr>
              <a:t>Stabilité</a:t>
            </a:r>
            <a:endParaRPr sz="2800" b="1" dirty="0">
              <a:solidFill>
                <a:schemeClr val="tx1"/>
              </a:solidFill>
              <a:latin typeface="Avenir"/>
              <a:sym typeface="Calibri"/>
            </a:endParaRPr>
          </a:p>
        </p:txBody>
      </p:sp>
      <p:sp>
        <p:nvSpPr>
          <p:cNvPr id="677" name="Google Shape;677;p62"/>
          <p:cNvSpPr/>
          <p:nvPr/>
        </p:nvSpPr>
        <p:spPr>
          <a:xfrm>
            <a:off x="7787784" y="1814358"/>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787784" y="2113602"/>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dirty="0">
                <a:solidFill>
                  <a:schemeClr val="tx1"/>
                </a:solidFill>
                <a:latin typeface="Barlow" panose="00000500000000000000" pitchFamily="2" charset="0"/>
                <a:ea typeface="Inter"/>
                <a:cs typeface="Inter"/>
                <a:sym typeface="Inter"/>
              </a:rPr>
              <a:t>La </a:t>
            </a:r>
            <a:r>
              <a:rPr lang="en-US" sz="1000" b="0" i="0" u="none" strike="noStrike" cap="none" dirty="0" err="1">
                <a:solidFill>
                  <a:schemeClr val="tx1"/>
                </a:solidFill>
                <a:latin typeface="Barlow" panose="00000500000000000000" pitchFamily="2" charset="0"/>
                <a:ea typeface="Inter"/>
                <a:cs typeface="Inter"/>
                <a:sym typeface="Inter"/>
              </a:rPr>
              <a:t>faible</a:t>
            </a:r>
            <a:r>
              <a:rPr lang="en-US" sz="1000" b="0" i="0" u="none" strike="noStrike" cap="none" dirty="0">
                <a:solidFill>
                  <a:schemeClr val="tx1"/>
                </a:solidFill>
                <a:latin typeface="Barlow" panose="00000500000000000000" pitchFamily="2" charset="0"/>
                <a:ea typeface="Inter"/>
                <a:cs typeface="Inter"/>
                <a:sym typeface="Inter"/>
              </a:rPr>
              <a:t> variance inter-runs </a:t>
            </a:r>
            <a:r>
              <a:rPr lang="en-US" sz="1000" b="0" i="0" u="none" strike="noStrike" cap="none" dirty="0" err="1">
                <a:solidFill>
                  <a:schemeClr val="tx1"/>
                </a:solidFill>
                <a:latin typeface="Barlow" panose="00000500000000000000" pitchFamily="2" charset="0"/>
                <a:ea typeface="Inter"/>
                <a:cs typeface="Inter"/>
                <a:sym typeface="Inter"/>
              </a:rPr>
              <a:t>confirme</a:t>
            </a:r>
            <a:r>
              <a:rPr lang="en-US" sz="1000" b="0" i="0" u="none" strike="noStrike" cap="none" dirty="0">
                <a:solidFill>
                  <a:schemeClr val="tx1"/>
                </a:solidFill>
                <a:latin typeface="Barlow" panose="00000500000000000000" pitchFamily="2" charset="0"/>
                <a:ea typeface="Inter"/>
                <a:cs typeface="Inter"/>
                <a:sym typeface="Inter"/>
              </a:rPr>
              <a:t> la </a:t>
            </a: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du pipeline. La </a:t>
            </a:r>
            <a:r>
              <a:rPr lang="en-US" sz="1000" b="0" i="0" u="none" strike="noStrike" cap="none" dirty="0" err="1">
                <a:solidFill>
                  <a:schemeClr val="tx1"/>
                </a:solidFill>
                <a:latin typeface="Barlow" panose="00000500000000000000" pitchFamily="2" charset="0"/>
                <a:ea typeface="Inter"/>
                <a:cs typeface="Inter"/>
                <a:sym typeface="Inter"/>
              </a:rPr>
              <a:t>robustesse</a:t>
            </a:r>
            <a:r>
              <a:rPr lang="en-US" sz="1000" b="0" i="0" u="none" strike="noStrike" cap="none" dirty="0">
                <a:solidFill>
                  <a:schemeClr val="tx1"/>
                </a:solidFill>
                <a:latin typeface="Barlow" panose="00000500000000000000" pitchFamily="2" charset="0"/>
                <a:ea typeface="Inter"/>
                <a:cs typeface="Inter"/>
                <a:sym typeface="Inter"/>
              </a:rPr>
              <a:t> aux paraphrases </a:t>
            </a:r>
            <a:r>
              <a:rPr lang="en-US" sz="1000" b="0" i="0" u="none" strike="noStrike" cap="none" dirty="0" err="1">
                <a:solidFill>
                  <a:schemeClr val="tx1"/>
                </a:solidFill>
                <a:latin typeface="Barlow" panose="00000500000000000000" pitchFamily="2" charset="0"/>
                <a:ea typeface="Inter"/>
                <a:cs typeface="Inter"/>
                <a:sym typeface="Inter"/>
              </a:rPr>
              <a:t>constitue</a:t>
            </a:r>
            <a:r>
              <a:rPr lang="en-US" sz="1000" b="0" i="0" u="none" strike="noStrike" cap="none" dirty="0">
                <a:solidFill>
                  <a:schemeClr val="tx1"/>
                </a:solidFill>
                <a:latin typeface="Barlow" panose="00000500000000000000" pitchFamily="2" charset="0"/>
                <a:ea typeface="Inter"/>
                <a:cs typeface="Inter"/>
                <a:sym typeface="Inter"/>
              </a:rPr>
              <a:t> le principal levier </a:t>
            </a:r>
            <a:r>
              <a:rPr lang="en-US" sz="1000" b="0" i="0" u="none" strike="noStrike" cap="none" dirty="0" err="1">
                <a:solidFill>
                  <a:schemeClr val="tx1"/>
                </a:solidFill>
                <a:latin typeface="Barlow" panose="00000500000000000000" pitchFamily="2" charset="0"/>
                <a:ea typeface="Inter"/>
                <a:cs typeface="Inter"/>
                <a:sym typeface="Inter"/>
              </a:rPr>
              <a:t>d'amélioration</a:t>
            </a:r>
            <a:r>
              <a:rPr lang="en-US" sz="1000" b="0" i="0" u="none" strike="noStrike" cap="none" dirty="0">
                <a:solidFill>
                  <a:schemeClr val="tx1"/>
                </a:solidFill>
                <a:latin typeface="Barlow" panose="00000500000000000000" pitchFamily="2" charset="0"/>
                <a:ea typeface="Inter"/>
                <a:cs typeface="Inter"/>
                <a:sym typeface="Inter"/>
              </a:rPr>
              <a:t>.</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6960121" y="3210600"/>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153691" y="3782795"/>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dirty="0" err="1">
                <a:solidFill>
                  <a:schemeClr val="tx1"/>
                </a:solidFill>
                <a:latin typeface="Barlow" panose="00000500000000000000" pitchFamily="2" charset="0"/>
                <a:ea typeface="Inter"/>
                <a:cs typeface="Inter"/>
                <a:sym typeface="Inter"/>
              </a:rPr>
              <a:t>Stabilité</a:t>
            </a:r>
            <a:r>
              <a:rPr lang="en-US" sz="1300" b="1" i="0" u="none" strike="noStrike" cap="none" dirty="0">
                <a:solidFill>
                  <a:schemeClr val="tx1"/>
                </a:solidFill>
                <a:latin typeface="Barlow" panose="00000500000000000000" pitchFamily="2" charset="0"/>
                <a:ea typeface="Inter"/>
                <a:cs typeface="Inter"/>
                <a:sym typeface="Inter"/>
              </a:rPr>
              <a:t> inter-runs</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153691" y="4045030"/>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entre </a:t>
            </a:r>
            <a:r>
              <a:rPr lang="en-US" sz="1000" b="0" i="0" u="none" strike="noStrike" cap="none" dirty="0" err="1">
                <a:solidFill>
                  <a:schemeClr val="tx1"/>
                </a:solidFill>
                <a:latin typeface="Barlow" panose="00000500000000000000" pitchFamily="2" charset="0"/>
                <a:ea typeface="Inter"/>
                <a:cs typeface="Inter"/>
                <a:sym typeface="Inter"/>
              </a:rPr>
              <a:t>exécutions</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6960120" y="4622006"/>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153691" y="5194201"/>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153691" y="5456436"/>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22100"/>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93730" y="5917109"/>
            <a:ext cx="165294" cy="132259"/>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Priorité : renforcer la robustesse aux paraphrases avant déploiement en production.</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478928" y="1420211"/>
            <a:ext cx="6684166" cy="417698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8" name="Google Shape;698;p63"/>
          <p:cNvSpPr/>
          <p:nvPr/>
        </p:nvSpPr>
        <p:spPr>
          <a:xfrm>
            <a:off x="661475" y="742750"/>
            <a:ext cx="11520000" cy="396000"/>
          </a:xfrm>
          <a:prstGeom prst="rect">
            <a:avLst/>
          </a:prstGeom>
          <a:noFill/>
          <a:ln>
            <a:noFill/>
          </a:ln>
        </p:spPr>
        <p:txBody>
          <a:bodyPr spcFirstLastPara="1" wrap="square" lIns="0" tIns="0" rIns="0" bIns="0" anchor="t" anchorCtr="0">
            <a:noAutofit/>
          </a:bodyPr>
          <a:lstStyle/>
          <a:p>
            <a:pPr lvl="0">
              <a:buClr>
                <a:schemeClr val="dk1"/>
              </a:buClr>
              <a:buSzPts val="3800"/>
            </a:pPr>
            <a:r>
              <a:rPr lang="en-US" sz="2800" b="1" dirty="0">
                <a:solidFill>
                  <a:schemeClr val="tx1"/>
                </a:solidFill>
                <a:latin typeface="Avenir"/>
                <a:sym typeface="Patrick Hand"/>
              </a:rPr>
              <a:t>Dimension 5/5 : </a:t>
            </a:r>
            <a:r>
              <a:rPr lang="en-US" sz="2800" b="1" dirty="0" err="1">
                <a:solidFill>
                  <a:schemeClr val="tx1"/>
                </a:solidFill>
                <a:latin typeface="Avenir"/>
                <a:sym typeface="Inter"/>
              </a:rPr>
              <a:t>Traçabilité</a:t>
            </a:r>
            <a:endParaRPr sz="2800" b="1" dirty="0">
              <a:solidFill>
                <a:schemeClr val="tx1"/>
              </a:solidFill>
              <a:latin typeface="Avenir"/>
              <a:sym typeface="Calibri"/>
            </a:endParaRPr>
          </a:p>
        </p:txBody>
      </p:sp>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Chaque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réponse</a:t>
            </a:r>
            <a:r>
              <a:rPr lang="en-US" sz="1250" b="0" i="0" u="none" strike="noStrike" cap="none" dirty="0">
                <a:solidFill>
                  <a:schemeClr val="tx1"/>
                </a:solidFill>
                <a:latin typeface="Barlow" panose="00000500000000000000" pitchFamily="2" charset="0"/>
                <a:ea typeface="Inter"/>
                <a:cs typeface="Inter"/>
                <a:sym typeface="Inter"/>
              </a:rPr>
              <a:t> est </a:t>
            </a:r>
            <a:r>
              <a:rPr lang="en-US" sz="1250" b="0" i="0" u="none" strike="noStrike" cap="none" dirty="0" err="1">
                <a:solidFill>
                  <a:schemeClr val="tx1"/>
                </a:solidFill>
                <a:latin typeface="Barlow" panose="00000500000000000000" pitchFamily="2" charset="0"/>
                <a:ea typeface="Inter"/>
                <a:cs typeface="Inter"/>
                <a:sym typeface="Inter"/>
              </a:rPr>
              <a:t>accompagnée</a:t>
            </a:r>
            <a:r>
              <a:rPr lang="en-US" sz="1250" b="0" i="0" u="none" strike="noStrike" cap="none" dirty="0">
                <a:solidFill>
                  <a:schemeClr val="tx1"/>
                </a:solidFill>
                <a:latin typeface="Barlow" panose="00000500000000000000" pitchFamily="2" charset="0"/>
                <a:ea typeface="Inter"/>
                <a:cs typeface="Inter"/>
                <a:sym typeface="Inter"/>
              </a:rPr>
              <a:t> d'un journal </a:t>
            </a:r>
            <a:r>
              <a:rPr lang="en-US" sz="1250" b="0" i="0" u="none" strike="noStrike" cap="none" dirty="0" err="1">
                <a:solidFill>
                  <a:schemeClr val="tx1"/>
                </a:solidFill>
                <a:latin typeface="Barlow" panose="00000500000000000000" pitchFamily="2" charset="0"/>
                <a:ea typeface="Inter"/>
                <a:cs typeface="Inter"/>
                <a:sym typeface="Inter"/>
              </a:rPr>
              <a:t>d'audit</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complet</a:t>
            </a:r>
            <a:r>
              <a:rPr lang="en-US" sz="1250" b="0" i="0" u="none" strike="noStrike" cap="none" dirty="0">
                <a:solidFill>
                  <a:schemeClr val="tx1"/>
                </a:solidFill>
                <a:latin typeface="Barlow" panose="00000500000000000000" pitchFamily="2" charset="0"/>
                <a:ea typeface="Inter"/>
                <a:cs typeface="Inter"/>
                <a:sym typeface="Inter"/>
              </a:rPr>
              <a:t> : sources </a:t>
            </a:r>
            <a:r>
              <a:rPr lang="en-US" sz="1250" b="0" i="0" u="none" strike="noStrike" cap="none" dirty="0" err="1">
                <a:solidFill>
                  <a:schemeClr val="tx1"/>
                </a:solidFill>
                <a:latin typeface="Barlow" panose="00000500000000000000" pitchFamily="2" charset="0"/>
                <a:ea typeface="Inter"/>
                <a:cs typeface="Inter"/>
                <a:sym typeface="Inter"/>
              </a:rPr>
              <a:t>citées</a:t>
            </a:r>
            <a:r>
              <a:rPr lang="en-US" sz="1250" b="0" i="0" u="none" strike="noStrike" cap="none" dirty="0">
                <a:solidFill>
                  <a:schemeClr val="tx1"/>
                </a:solidFill>
                <a:latin typeface="Barlow" panose="00000500000000000000" pitchFamily="2" charset="0"/>
                <a:ea typeface="Inter"/>
                <a:cs typeface="Inter"/>
                <a:sym typeface="Inter"/>
              </a:rPr>
              <a:t>, scores de </a:t>
            </a:r>
            <a:r>
              <a:rPr lang="en-US" sz="1250" b="0" i="0" u="none" strike="noStrike" cap="none" dirty="0" err="1">
                <a:solidFill>
                  <a:schemeClr val="tx1"/>
                </a:solidFill>
                <a:latin typeface="Barlow" panose="00000500000000000000" pitchFamily="2" charset="0"/>
                <a:ea typeface="Inter"/>
                <a:cs typeface="Inter"/>
                <a:sym typeface="Inter"/>
              </a:rPr>
              <a:t>confiance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horodatage</a:t>
            </a:r>
            <a:r>
              <a:rPr lang="en-US" sz="1250" b="0" i="0" u="none" strike="noStrike" cap="none" dirty="0">
                <a:solidFill>
                  <a:schemeClr val="tx1"/>
                </a:solidFill>
                <a:latin typeface="Barlow" panose="00000500000000000000" pitchFamily="2" charset="0"/>
                <a:ea typeface="Inter"/>
                <a:cs typeface="Inter"/>
                <a:sym typeface="Inter"/>
              </a:rPr>
              <a:t> et </a:t>
            </a:r>
            <a:r>
              <a:rPr lang="en-US" sz="1250" b="0" i="0" u="none" strike="noStrike" cap="none" dirty="0" err="1">
                <a:solidFill>
                  <a:schemeClr val="tx1"/>
                </a:solidFill>
                <a:latin typeface="Barlow" panose="00000500000000000000" pitchFamily="2" charset="0"/>
                <a:ea typeface="Inter"/>
                <a:cs typeface="Inter"/>
                <a:sym typeface="Inter"/>
              </a:rPr>
              <a:t>chaîne</a:t>
            </a:r>
            <a:r>
              <a:rPr lang="en-US" sz="1250" b="0" i="0" u="none" strike="noStrike" cap="none" dirty="0">
                <a:solidFill>
                  <a:schemeClr val="tx1"/>
                </a:solidFill>
                <a:latin typeface="Barlow" panose="00000500000000000000" pitchFamily="2" charset="0"/>
                <a:ea typeface="Inter"/>
                <a:cs typeface="Inter"/>
                <a:sym typeface="Inter"/>
              </a:rPr>
              <a:t> de </a:t>
            </a:r>
            <a:r>
              <a:rPr lang="en-US" sz="1250" b="0" i="0" u="none" strike="noStrike" cap="none" dirty="0" err="1">
                <a:solidFill>
                  <a:schemeClr val="tx1"/>
                </a:solidFill>
                <a:latin typeface="Barlow" panose="00000500000000000000" pitchFamily="2" charset="0"/>
                <a:ea typeface="Inter"/>
                <a:cs typeface="Inter"/>
                <a:sym typeface="Inter"/>
              </a:rPr>
              <a:t>raisonnement</a:t>
            </a:r>
            <a:r>
              <a:rPr lang="en-US" sz="1250" b="0" i="0" u="none" strike="noStrike" cap="none" dirty="0">
                <a:solidFill>
                  <a:schemeClr val="tx1"/>
                </a:solidFill>
                <a:latin typeface="Barlow" panose="00000500000000000000" pitchFamily="2" charset="0"/>
                <a:ea typeface="Inter"/>
                <a:cs typeface="Inter"/>
                <a:sym typeface="Inter"/>
              </a:rPr>
              <a:t>.</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20"/>
            <a:ext cx="10868700" cy="396000"/>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26497"/>
            <a:ext cx="200814" cy="160635"/>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Conformité</a:t>
            </a:r>
            <a:r>
              <a:rPr lang="en-US" sz="1250" b="0" i="0" u="none" strike="noStrike" cap="none" dirty="0">
                <a:solidFill>
                  <a:schemeClr val="tx1"/>
                </a:solidFill>
                <a:latin typeface="Barlow" panose="00000500000000000000" pitchFamily="2" charset="0"/>
                <a:ea typeface="Inter"/>
                <a:cs typeface="Inter"/>
                <a:sym typeface="Inter"/>
              </a:rPr>
              <a:t> </a:t>
            </a:r>
            <a:r>
              <a:rPr lang="en-US" sz="1250" b="1" i="0" u="none" strike="noStrike" cap="none" dirty="0">
                <a:solidFill>
                  <a:schemeClr val="tx1"/>
                </a:solidFill>
                <a:latin typeface="Barlow" panose="00000500000000000000" pitchFamily="2" charset="0"/>
                <a:ea typeface="Inter"/>
                <a:cs typeface="Inter"/>
                <a:sym typeface="Inter"/>
              </a:rPr>
              <a:t>AI Act (UE, 2024)</a:t>
            </a:r>
            <a:r>
              <a:rPr lang="en-US" sz="1250" b="0" i="0" u="none" strike="noStrike" cap="none" dirty="0">
                <a:solidFill>
                  <a:schemeClr val="tx1"/>
                </a:solidFill>
                <a:latin typeface="Barlow" panose="00000500000000000000" pitchFamily="2" charset="0"/>
                <a:ea typeface="Inter"/>
                <a:cs typeface="Inter"/>
                <a:sym typeface="Inter"/>
              </a:rPr>
              <a:t> : R</a:t>
            </a:r>
            <a:r>
              <a:rPr lang="fr-FR" sz="1250" b="0" i="0" u="none" strike="noStrike" cap="none" dirty="0" err="1">
                <a:solidFill>
                  <a:schemeClr val="tx1"/>
                </a:solidFill>
                <a:latin typeface="Barlow" panose="00000500000000000000" pitchFamily="2" charset="0"/>
                <a:ea typeface="Inter"/>
                <a:cs typeface="Inter"/>
                <a:sym typeface="Inter"/>
              </a:rPr>
              <a:t>épond</a:t>
            </a:r>
            <a:r>
              <a:rPr lang="fr-FR" sz="1250"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64"/>
          <p:cNvSpPr/>
          <p:nvPr/>
        </p:nvSpPr>
        <p:spPr>
          <a:xfrm>
            <a:off x="661475" y="74376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err="1">
                <a:solidFill>
                  <a:schemeClr val="tx1"/>
                </a:solidFill>
                <a:latin typeface="Avenir"/>
                <a:sym typeface="Inter"/>
              </a:rPr>
              <a:t>Analyse</a:t>
            </a:r>
            <a:r>
              <a:rPr lang="en-US" sz="2800" b="1" dirty="0">
                <a:solidFill>
                  <a:schemeClr val="tx1"/>
                </a:solidFill>
                <a:latin typeface="Avenir"/>
                <a:sym typeface="Inter"/>
              </a:rPr>
              <a:t> des </a:t>
            </a:r>
            <a:r>
              <a:rPr lang="en-US" sz="2800" b="1" dirty="0" err="1">
                <a:solidFill>
                  <a:schemeClr val="tx1"/>
                </a:solidFill>
                <a:latin typeface="Avenir"/>
                <a:sym typeface="Inter"/>
              </a:rPr>
              <a:t>Erreurs</a:t>
            </a:r>
            <a:endParaRPr sz="2800" b="1" dirty="0">
              <a:solidFill>
                <a:schemeClr val="tx1"/>
              </a:solidFill>
              <a:latin typeface="Avenir"/>
              <a:sym typeface="Calibri"/>
            </a:endParaRPr>
          </a:p>
        </p:txBody>
      </p:sp>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22528" y="1812773"/>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6819487" y="5393112"/>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6980416" y="5618438"/>
            <a:ext cx="201211" cy="160933"/>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342555" y="5534698"/>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 déjà abordée en slide 9</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1935718290"/>
              </p:ext>
            </p:extLst>
          </p:nvPr>
        </p:nvGraphicFramePr>
        <p:xfrm>
          <a:off x="6594932" y="1365092"/>
          <a:ext cx="5241823" cy="3423920"/>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70840">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70840">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70840">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70840">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70840">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70840">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5"/>
          <p:cNvSpPr/>
          <p:nvPr/>
        </p:nvSpPr>
        <p:spPr>
          <a:xfrm>
            <a:off x="661475" y="746903"/>
            <a:ext cx="11520000" cy="396000"/>
          </a:xfrm>
          <a:prstGeom prst="rect">
            <a:avLst/>
          </a:prstGeom>
          <a:noFill/>
          <a:ln>
            <a:noFill/>
          </a:ln>
        </p:spPr>
        <p:txBody>
          <a:bodyPr spcFirstLastPara="1" wrap="square" lIns="0" tIns="0" rIns="0" bIns="0" anchor="t" anchorCtr="0">
            <a:noAutofit/>
          </a:bodyPr>
          <a:lstStyle/>
          <a:p>
            <a:pPr marL="0" lvl="0" indent="0">
              <a:buClr>
                <a:schemeClr val="dk1"/>
              </a:buClr>
              <a:buSzPts val="3800"/>
              <a:buFont typeface="Arial"/>
              <a:buNone/>
            </a:pPr>
            <a:r>
              <a:rPr lang="en-US" sz="2800" b="1" dirty="0" err="1">
                <a:solidFill>
                  <a:schemeClr val="tx1"/>
                </a:solidFill>
                <a:latin typeface="Avenir"/>
                <a:sym typeface="Inter"/>
              </a:rPr>
              <a:t>Trajectoire</a:t>
            </a:r>
            <a:r>
              <a:rPr lang="en-US" sz="2800" b="1" dirty="0">
                <a:solidFill>
                  <a:schemeClr val="tx1"/>
                </a:solidFill>
                <a:latin typeface="Avenir"/>
                <a:sym typeface="Inter"/>
              </a:rPr>
              <a:t> </a:t>
            </a:r>
            <a:r>
              <a:rPr lang="en-US" sz="2800" b="1" dirty="0" err="1">
                <a:solidFill>
                  <a:schemeClr val="tx1"/>
                </a:solidFill>
                <a:latin typeface="Avenir"/>
                <a:sym typeface="Inter"/>
              </a:rPr>
              <a:t>d'Industrialisation</a:t>
            </a:r>
            <a:endParaRPr sz="2800" b="1" dirty="0">
              <a:solidFill>
                <a:schemeClr val="tx1"/>
              </a:solidFill>
              <a:latin typeface="Avenir"/>
              <a:sym typeface="Calibri"/>
            </a:endParaRPr>
          </a:p>
        </p:txBody>
      </p:sp>
      <p:sp>
        <p:nvSpPr>
          <p:cNvPr id="753" name="Google Shape;753;p65"/>
          <p:cNvSpPr/>
          <p:nvPr/>
        </p:nvSpPr>
        <p:spPr>
          <a:xfrm>
            <a:off x="6083148" y="1584722"/>
            <a:ext cx="25500" cy="3688500"/>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4" name="Google Shape;754;p65"/>
          <p:cNvSpPr/>
          <p:nvPr/>
        </p:nvSpPr>
        <p:spPr>
          <a:xfrm>
            <a:off x="5341605" y="178464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5" name="Google Shape;755;p65"/>
          <p:cNvSpPr/>
          <p:nvPr/>
        </p:nvSpPr>
        <p:spPr>
          <a:xfrm>
            <a:off x="5883227" y="158472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6" name="Google Shape;756;p65"/>
          <p:cNvSpPr/>
          <p:nvPr/>
        </p:nvSpPr>
        <p:spPr>
          <a:xfrm>
            <a:off x="5954117" y="162014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1</a:t>
            </a:r>
            <a:endParaRPr sz="2200" b="0" i="0" u="none" strike="noStrike" cap="none">
              <a:solidFill>
                <a:schemeClr val="tx1"/>
              </a:solidFill>
              <a:latin typeface="Calibri"/>
              <a:ea typeface="Calibri"/>
              <a:cs typeface="Calibri"/>
              <a:sym typeface="Calibri"/>
            </a:endParaRPr>
          </a:p>
        </p:txBody>
      </p:sp>
      <p:sp>
        <p:nvSpPr>
          <p:cNvPr id="757" name="Google Shape;757;p65"/>
          <p:cNvSpPr/>
          <p:nvPr/>
        </p:nvSpPr>
        <p:spPr>
          <a:xfrm>
            <a:off x="661475" y="1649611"/>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dirty="0">
                <a:solidFill>
                  <a:schemeClr val="tx1"/>
                </a:solidFill>
                <a:latin typeface="Inter"/>
                <a:ea typeface="Inter"/>
                <a:cs typeface="Inter"/>
                <a:sym typeface="Inter"/>
              </a:rPr>
              <a:t>Construction du </a:t>
            </a:r>
            <a:r>
              <a:rPr lang="en-US" sz="1850" b="1" i="0" u="none" strike="noStrike" cap="none" dirty="0">
                <a:solidFill>
                  <a:schemeClr val="tx1"/>
                </a:solidFill>
                <a:latin typeface="Inter"/>
                <a:ea typeface="Inter"/>
                <a:cs typeface="Inter"/>
                <a:sym typeface="Inter"/>
              </a:rPr>
              <a:t>POC — 2024–2025</a:t>
            </a:r>
            <a:endParaRPr sz="1850" b="0" i="0" u="none" strike="noStrike" cap="none" dirty="0">
              <a:solidFill>
                <a:schemeClr val="tx1"/>
              </a:solidFill>
              <a:latin typeface="Calibri"/>
              <a:ea typeface="Calibri"/>
              <a:cs typeface="Calibri"/>
              <a:sym typeface="Calibri"/>
            </a:endParaRPr>
          </a:p>
        </p:txBody>
      </p:sp>
      <p:sp>
        <p:nvSpPr>
          <p:cNvPr id="758" name="Google Shape;758;p65"/>
          <p:cNvSpPr/>
          <p:nvPr/>
        </p:nvSpPr>
        <p:spPr>
          <a:xfrm>
            <a:off x="661475" y="2058293"/>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Validation du cadre d'évaluation et des 5 dimensions sur ScribBERT en environnement contrôlé. Résultats mesurés et documentés.</a:t>
            </a:r>
            <a:endParaRPr sz="1450" b="0" i="0" u="none" strike="noStrike" cap="none">
              <a:solidFill>
                <a:schemeClr val="tx1"/>
              </a:solidFill>
              <a:latin typeface="Calibri"/>
              <a:ea typeface="Calibri"/>
              <a:cs typeface="Calibri"/>
              <a:sym typeface="Calibri"/>
            </a:endParaRPr>
          </a:p>
        </p:txBody>
      </p:sp>
      <p:sp>
        <p:nvSpPr>
          <p:cNvPr id="759" name="Google Shape;759;p65"/>
          <p:cNvSpPr/>
          <p:nvPr/>
        </p:nvSpPr>
        <p:spPr>
          <a:xfrm>
            <a:off x="6283069" y="291871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0" name="Google Shape;760;p65"/>
          <p:cNvSpPr/>
          <p:nvPr/>
        </p:nvSpPr>
        <p:spPr>
          <a:xfrm>
            <a:off x="5883227" y="271879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1" name="Google Shape;761;p65"/>
          <p:cNvSpPr/>
          <p:nvPr/>
        </p:nvSpPr>
        <p:spPr>
          <a:xfrm>
            <a:off x="5954117" y="275421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Inter"/>
                <a:ea typeface="Inter"/>
                <a:cs typeface="Inter"/>
                <a:sym typeface="Inter"/>
              </a:rPr>
              <a:t>2</a:t>
            </a:r>
            <a:endParaRPr sz="2200" b="0" i="0" u="none" strike="noStrike" cap="none" dirty="0">
              <a:solidFill>
                <a:schemeClr val="tx1"/>
              </a:solidFill>
              <a:latin typeface="Calibri"/>
              <a:ea typeface="Calibri"/>
              <a:cs typeface="Calibri"/>
              <a:sym typeface="Calibri"/>
            </a:endParaRPr>
          </a:p>
        </p:txBody>
      </p:sp>
      <p:sp>
        <p:nvSpPr>
          <p:cNvPr id="762" name="Google Shape;762;p65"/>
          <p:cNvSpPr/>
          <p:nvPr/>
        </p:nvSpPr>
        <p:spPr>
          <a:xfrm>
            <a:off x="7040882" y="278368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a:solidFill>
                  <a:schemeClr val="tx1"/>
                </a:solidFill>
                <a:latin typeface="Inter"/>
                <a:ea typeface="Inter"/>
                <a:cs typeface="Inter"/>
                <a:sym typeface="Inter"/>
              </a:rPr>
              <a:t>Configuration Cible — 2026</a:t>
            </a:r>
            <a:endParaRPr sz="1850" b="0" i="0" u="none" strike="noStrike" cap="none">
              <a:solidFill>
                <a:schemeClr val="tx1"/>
              </a:solidFill>
              <a:latin typeface="Calibri"/>
              <a:ea typeface="Calibri"/>
              <a:cs typeface="Calibri"/>
              <a:sym typeface="Calibri"/>
            </a:endParaRPr>
          </a:p>
        </p:txBody>
      </p:sp>
      <p:sp>
        <p:nvSpPr>
          <p:cNvPr id="763" name="Google Shape;763;p65"/>
          <p:cNvSpPr/>
          <p:nvPr/>
        </p:nvSpPr>
        <p:spPr>
          <a:xfrm>
            <a:off x="7040882" y="3192363"/>
            <a:ext cx="4489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Déploiement de la configuration cible avec intégration des correctifs issus de l'analyse d'erreurs et renforcement de la robustesse.</a:t>
            </a:r>
            <a:endParaRPr sz="1450" b="0" i="0" u="none" strike="noStrike" cap="none">
              <a:solidFill>
                <a:schemeClr val="tx1"/>
              </a:solidFill>
              <a:latin typeface="Calibri"/>
              <a:ea typeface="Calibri"/>
              <a:cs typeface="Calibri"/>
              <a:sym typeface="Calibri"/>
            </a:endParaRPr>
          </a:p>
        </p:txBody>
      </p:sp>
      <p:sp>
        <p:nvSpPr>
          <p:cNvPr id="764" name="Google Shape;764;p65"/>
          <p:cNvSpPr/>
          <p:nvPr/>
        </p:nvSpPr>
        <p:spPr>
          <a:xfrm>
            <a:off x="5341605" y="3896221"/>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5" name="Google Shape;765;p65"/>
          <p:cNvSpPr/>
          <p:nvPr/>
        </p:nvSpPr>
        <p:spPr>
          <a:xfrm>
            <a:off x="5883227" y="3696295"/>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6" name="Google Shape;766;p65"/>
          <p:cNvSpPr/>
          <p:nvPr/>
        </p:nvSpPr>
        <p:spPr>
          <a:xfrm>
            <a:off x="5954117" y="3731716"/>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3</a:t>
            </a:r>
            <a:endParaRPr sz="2200" b="0" i="0" u="none" strike="noStrike" cap="none">
              <a:solidFill>
                <a:schemeClr val="tx1"/>
              </a:solidFill>
              <a:latin typeface="Calibri"/>
              <a:ea typeface="Calibri"/>
              <a:cs typeface="Calibri"/>
              <a:sym typeface="Calibri"/>
            </a:endParaRPr>
          </a:p>
        </p:txBody>
      </p:sp>
      <p:sp>
        <p:nvSpPr>
          <p:cNvPr id="767" name="Google Shape;767;p65"/>
          <p:cNvSpPr/>
          <p:nvPr/>
        </p:nvSpPr>
        <p:spPr>
          <a:xfrm>
            <a:off x="661475" y="3761184"/>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Inter"/>
                <a:ea typeface="Inter"/>
                <a:cs typeface="Inter"/>
                <a:sym typeface="Inter"/>
              </a:rPr>
              <a:t>Industrialisation</a:t>
            </a:r>
            <a:r>
              <a:rPr lang="en-US" sz="1850" b="1" i="0" u="none" strike="noStrike" cap="none" dirty="0">
                <a:solidFill>
                  <a:schemeClr val="tx1"/>
                </a:solidFill>
                <a:latin typeface="Inter"/>
                <a:ea typeface="Inter"/>
                <a:cs typeface="Inter"/>
                <a:sym typeface="Inter"/>
              </a:rPr>
              <a:t> Groupe — 2026–2027</a:t>
            </a:r>
            <a:endParaRPr sz="1850" b="0" i="0" u="none" strike="noStrike" cap="none" dirty="0">
              <a:solidFill>
                <a:schemeClr val="tx1"/>
              </a:solidFill>
              <a:latin typeface="Calibri"/>
              <a:ea typeface="Calibri"/>
              <a:cs typeface="Calibri"/>
              <a:sym typeface="Calibri"/>
            </a:endParaRPr>
          </a:p>
        </p:txBody>
      </p:sp>
      <p:sp>
        <p:nvSpPr>
          <p:cNvPr id="768" name="Google Shape;768;p65"/>
          <p:cNvSpPr/>
          <p:nvPr/>
        </p:nvSpPr>
        <p:spPr>
          <a:xfrm>
            <a:off x="661475" y="4169866"/>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Généralisation à l'ensemble du groupe avec gouvernance IA formalisée, monitoring continu et conformité AI Act maintenue.</a:t>
            </a:r>
            <a:endParaRPr sz="1450" b="0" i="0" u="none" strike="noStrike" cap="none">
              <a:solidFill>
                <a:schemeClr val="tx1"/>
              </a:solidFill>
              <a:latin typeface="Calibri"/>
              <a:ea typeface="Calibri"/>
              <a:cs typeface="Calibri"/>
              <a:sym typeface="Calibri"/>
            </a:endParaRPr>
          </a:p>
        </p:txBody>
      </p:sp>
      <p:sp>
        <p:nvSpPr>
          <p:cNvPr id="769" name="Google Shape;769;p65"/>
          <p:cNvSpPr/>
          <p:nvPr/>
        </p:nvSpPr>
        <p:spPr>
          <a:xfrm>
            <a:off x="661475" y="5485904"/>
            <a:ext cx="10868700" cy="75600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70" name="Google Shape;770;p65" descr="preencoded.png"/>
          <p:cNvPicPr preferRelativeResize="0"/>
          <p:nvPr/>
        </p:nvPicPr>
        <p:blipFill rotWithShape="1">
          <a:blip r:embed="rId3">
            <a:alphaModFix/>
          </a:blip>
          <a:srcRect/>
          <a:stretch/>
        </p:blipFill>
        <p:spPr>
          <a:xfrm>
            <a:off x="850482" y="5753596"/>
            <a:ext cx="236234" cy="189012"/>
          </a:xfrm>
          <a:prstGeom prst="rect">
            <a:avLst/>
          </a:prstGeom>
          <a:noFill/>
          <a:ln>
            <a:noFill/>
          </a:ln>
        </p:spPr>
      </p:pic>
      <p:sp>
        <p:nvSpPr>
          <p:cNvPr id="771" name="Google Shape;771;p65"/>
          <p:cNvSpPr/>
          <p:nvPr/>
        </p:nvSpPr>
        <p:spPr>
          <a:xfrm>
            <a:off x="1275723" y="5722144"/>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Passage en industrialisation groupe validé — </a:t>
            </a:r>
            <a:r>
              <a:rPr lang="en-US" sz="1450" b="1" i="0" u="none" strike="noStrike" cap="none">
                <a:solidFill>
                  <a:schemeClr val="tx1"/>
                </a:solidFill>
                <a:latin typeface="Inter"/>
                <a:ea typeface="Inter"/>
                <a:cs typeface="Inter"/>
                <a:sym typeface="Inter"/>
              </a:rPr>
              <a:t>juillet 2026</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66"/>
          <p:cNvSpPr/>
          <p:nvPr/>
        </p:nvSpPr>
        <p:spPr>
          <a:xfrm>
            <a:off x="661475" y="743395"/>
            <a:ext cx="11520000" cy="396000"/>
          </a:xfrm>
          <a:prstGeom prst="rect">
            <a:avLst/>
          </a:prstGeom>
          <a:noFill/>
          <a:ln>
            <a:noFill/>
          </a:ln>
        </p:spPr>
        <p:txBody>
          <a:bodyPr spcFirstLastPara="1" wrap="square" lIns="0" tIns="0" rIns="0" bIns="0" anchor="t" anchorCtr="0">
            <a:spAutoFit/>
          </a:bodyPr>
          <a:lstStyle/>
          <a:p>
            <a:pPr>
              <a:buClr>
                <a:schemeClr val="dk1"/>
              </a:buClr>
              <a:buSzPts val="3800"/>
            </a:pPr>
            <a:r>
              <a:rPr lang="en-US" sz="2800" b="1" dirty="0" err="1">
                <a:solidFill>
                  <a:schemeClr val="tx1"/>
                </a:solidFill>
                <a:latin typeface="Avenir"/>
                <a:sym typeface="Inter"/>
              </a:rPr>
              <a:t>Limites</a:t>
            </a:r>
            <a:r>
              <a:rPr lang="en-US" sz="2800" b="1" dirty="0">
                <a:solidFill>
                  <a:schemeClr val="tx1"/>
                </a:solidFill>
                <a:latin typeface="Avenir"/>
                <a:sym typeface="Inter"/>
              </a:rPr>
              <a:t> &amp; Perspectives</a:t>
            </a:r>
            <a:endParaRPr sz="2800" b="1" dirty="0">
              <a:solidFill>
                <a:schemeClr val="tx1"/>
              </a:solidFill>
              <a:latin typeface="Avenir"/>
              <a:sym typeface="Calibri"/>
            </a:endParaRPr>
          </a:p>
        </p:txBody>
      </p:sp>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Limites identifiées</a:t>
            </a:r>
            <a:endParaRPr sz="1850" b="0" i="0" u="none" strike="noStrike" cap="none">
              <a:solidFill>
                <a:schemeClr val="tx1"/>
              </a:solidFill>
              <a:latin typeface="Calibri"/>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Couverture du corpus limitée aux documents structurés disponibles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Évaluation manuelle partielle pour les cas limites non automatisables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Biais potentiels liés à la granularité du chunking vectoriel</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Généralisation hors domaine non encore validée empiriquement</a:t>
            </a:r>
            <a:endParaRPr sz="1450" b="0" i="0" u="none" strike="noStrike" cap="none">
              <a:solidFill>
                <a:schemeClr val="tx1"/>
              </a:solidFill>
              <a:latin typeface="Calibri"/>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Perspectives de recherche</a:t>
            </a:r>
            <a:endParaRPr sz="1850" b="0" i="0" u="none" strike="noStrike" cap="none">
              <a:solidFill>
                <a:schemeClr val="tx1"/>
              </a:solidFill>
              <a:latin typeface="Calibri"/>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Extension du cadre d'évaluation à d'autres systèmes RAG industriels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Automatisation complète du pipeline via agents d'évaluation autonomes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Intégration de métriques de fairness et de détection de biais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Adaptation du cadre aux exigences sectorielles (finance, santé, énergie)</a:t>
            </a:r>
            <a:endParaRPr sz="1450" b="0" i="0" u="none" strike="noStrike" cap="none">
              <a:solidFill>
                <a:schemeClr val="tx1"/>
              </a:solidFill>
              <a:latin typeface="Calibri"/>
              <a:ea typeface="Calibri"/>
              <a:cs typeface="Calibri"/>
              <a:sym typeface="Calibri"/>
            </a:endParaRPr>
          </a:p>
        </p:txBody>
      </p:sp>
      <p:sp>
        <p:nvSpPr>
          <p:cNvPr id="782" name="Google Shape;782;p66"/>
          <p:cNvSpPr/>
          <p:nvPr/>
        </p:nvSpPr>
        <p:spPr>
          <a:xfrm>
            <a:off x="661475" y="5121672"/>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83" name="Google Shape;783;p66" descr="preencoded.png"/>
          <p:cNvPicPr preferRelativeResize="0"/>
          <p:nvPr/>
        </p:nvPicPr>
        <p:blipFill rotWithShape="1">
          <a:blip r:embed="rId3">
            <a:alphaModFix/>
          </a:blip>
          <a:srcRect/>
          <a:stretch/>
        </p:blipFill>
        <p:spPr>
          <a:xfrm>
            <a:off x="850482" y="5389364"/>
            <a:ext cx="236234" cy="189012"/>
          </a:xfrm>
          <a:prstGeom prst="rect">
            <a:avLst/>
          </a:prstGeom>
          <a:noFill/>
          <a:ln>
            <a:noFill/>
          </a:ln>
        </p:spPr>
      </p:pic>
      <p:sp>
        <p:nvSpPr>
          <p:cNvPr id="784" name="Google Shape;784;p66"/>
          <p:cNvSpPr/>
          <p:nvPr/>
        </p:nvSpPr>
        <p:spPr>
          <a:xfrm>
            <a:off x="1275723" y="5357912"/>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36" y="2627213"/>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Merci. Questions ?</a:t>
            </a:r>
            <a:endParaRPr sz="1450" b="0" i="0" u="none" strike="noStrike" cap="none">
              <a:solidFill>
                <a:schemeClr val="tx1"/>
              </a:solidFill>
              <a:latin typeface="Barlow" panose="00000500000000000000" pitchFamily="2" charset="0"/>
              <a:ea typeface="Calibri"/>
              <a:cs typeface="Calibri"/>
              <a:sym typeface="Calibri"/>
            </a:endParaRPr>
          </a:p>
          <a:p>
            <a:pPr marL="0" marR="0" lvl="0" indent="0" algn="l" rtl="0">
              <a:lnSpc>
                <a:spcPct val="133000"/>
              </a:lnSpc>
              <a:spcBef>
                <a:spcPts val="1650"/>
              </a:spcBef>
              <a:spcAft>
                <a:spcPts val="0"/>
              </a:spcAft>
              <a:buClr>
                <a:srgbClr val="272525"/>
              </a:buClr>
              <a:buSzPts val="1450"/>
              <a:buFont typeface="Inter"/>
              <a:buNone/>
            </a:pPr>
            <a:r>
              <a:rPr lang="en-US" sz="1450" b="0" i="1" u="none" strike="noStrike" cap="none">
                <a:solidFill>
                  <a:schemeClr val="tx1"/>
                </a:solidFill>
                <a:latin typeface="Barlow" panose="00000500000000000000" pitchFamily="2" charset="0"/>
                <a:ea typeface="Inter"/>
                <a:cs typeface="Inter"/>
                <a:sym typeface="Inter"/>
              </a:rPr>
              <a:t>Évaluer la cohérence et la fiabilité d'un système RAG en contexte industriel critique — Le cas ScribBERT</a:t>
            </a:r>
            <a:r>
              <a:rPr lang="en-US" sz="1450" b="0" i="0" u="none" strike="noStrike" cap="none">
                <a:solidFill>
                  <a:schemeClr val="tx1"/>
                </a:solidFill>
                <a:latin typeface="Barlow" panose="00000500000000000000" pitchFamily="2" charset="0"/>
                <a:ea typeface="Inter"/>
                <a:cs typeface="Inter"/>
                <a:sym typeface="Inter"/>
              </a:rPr>
              <a:t>  ·  Soutenance de mémoire  ·  2025</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4" name="Titre 3">
            <a:extLst>
              <a:ext uri="{FF2B5EF4-FFF2-40B4-BE49-F238E27FC236}">
                <a16:creationId xmlns:a16="http://schemas.microsoft.com/office/drawing/2014/main" id="{B41B6852-920A-61A1-9108-80B0F2F775F6}"/>
              </a:ext>
            </a:extLst>
          </p:cNvPr>
          <p:cNvSpPr>
            <a:spLocks noGrp="1"/>
          </p:cNvSpPr>
          <p:nvPr>
            <p:ph type="title"/>
          </p:nvPr>
        </p:nvSpPr>
        <p:spPr>
          <a:xfrm>
            <a:off x="661475" y="745964"/>
            <a:ext cx="11520000" cy="396000"/>
          </a:xfrm>
        </p:spPr>
        <p:txBody>
          <a:bodyPr/>
          <a:lstStyle/>
          <a:p>
            <a:r>
              <a:rPr lang="fr-FR" sz="2800" dirty="0">
                <a:solidFill>
                  <a:schemeClr val="tx1"/>
                </a:solidFill>
              </a:rPr>
              <a:t>Conclusion</a:t>
            </a: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294</TotalTime>
  <Words>4311</Words>
  <Application>Microsoft Office PowerPoint</Application>
  <PresentationFormat>Widescreen</PresentationFormat>
  <Paragraphs>246</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Avenir</vt:lpstr>
      <vt:lpstr>Inter</vt:lpstr>
      <vt:lpstr>Barlow</vt:lpstr>
      <vt:lpstr>Patrick Hand</vt:lpstr>
      <vt:lpstr>Calibri</vt:lpstr>
      <vt:lpstr>S1 - Atelier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6</cp:revision>
  <dcterms:modified xsi:type="dcterms:W3CDTF">2026-07-20T17:07:53Z</dcterms:modified>
</cp:coreProperties>
</file>